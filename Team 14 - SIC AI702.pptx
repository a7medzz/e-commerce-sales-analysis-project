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893300" cy="6858000"/>
  <p:notesSz cx="6858000" cy="9144000"/>
  <p:embeddedFontLst>
    <p:embeddedFont>
      <p:font typeface="Arimo" charset="1" panose="020B0604020202020204"/>
      <p:regular r:id="rId32"/>
    </p:embeddedFont>
    <p:embeddedFont>
      <p:font typeface="Arial" charset="1" panose="020B0502020202020204"/>
      <p:regular r:id="rId33"/>
    </p:embeddedFont>
    <p:embeddedFont>
      <p:font typeface="Canva Sans Bold" charset="1" panose="020B0803030501040103"/>
      <p:regular r:id="rId36"/>
    </p:embeddedFont>
    <p:embeddedFont>
      <p:font typeface="Arimo Bold" charset="1" panose="020B0704020202020204"/>
      <p:regular r:id="rId38"/>
    </p:embeddedFont>
    <p:embeddedFont>
      <p:font typeface="Canva Sans" charset="1" panose="020B0503030501040103"/>
      <p:regular r:id="rId39"/>
    </p:embeddedFont>
    <p:embeddedFont>
      <p:font typeface="Arial Bold" charset="1" panose="020B0802020202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39.fntdata"/><Relationship Id="rId21" Type="http://schemas.openxmlformats.org/officeDocument/2006/relationships/slide" Target="slides/slide16.xml"/><Relationship Id="rId34" Type="http://schemas.openxmlformats.org/officeDocument/2006/relationships/notesSlide" Target="notesSlides/notesSlide2.xml"/><Relationship Id="rId42" Type="http://schemas.openxmlformats.org/officeDocument/2006/relationships/font" Target="fonts/font42.fntdata"/><Relationship Id="rId47" Type="http://schemas.openxmlformats.org/officeDocument/2006/relationships/notesSlide" Target="notesSlides/notesSlide11.xml"/><Relationship Id="rId50" Type="http://schemas.openxmlformats.org/officeDocument/2006/relationships/customXml" Target="../customXml/item3.xml"/><Relationship Id="rId7" Type="http://schemas.openxmlformats.org/officeDocument/2006/relationships/slide" Target="slides/slide2.xml"/><Relationship Id="rId16" Type="http://schemas.openxmlformats.org/officeDocument/2006/relationships/slide" Target="slides/slide11.xml"/><Relationship Id="rId2" Type="http://schemas.openxmlformats.org/officeDocument/2006/relationships/presProps" Target="presProps.xml"/><Relationship Id="rId29" Type="http://schemas.openxmlformats.org/officeDocument/2006/relationships/notesMaster" Target="notesMasters/notesMaster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32.fntdata"/><Relationship Id="rId37" Type="http://schemas.openxmlformats.org/officeDocument/2006/relationships/notesSlide" Target="notesSlides/notesSlide4.xml"/><Relationship Id="rId40" Type="http://schemas.openxmlformats.org/officeDocument/2006/relationships/notesSlide" Target="notesSlides/notesSlide5.xml"/><Relationship Id="rId45" Type="http://schemas.openxmlformats.org/officeDocument/2006/relationships/notesSlide" Target="notesSlides/notesSlide9.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36.fntdata"/><Relationship Id="rId5" Type="http://schemas.openxmlformats.org/officeDocument/2006/relationships/tableStyles" Target="tableStyles.xml"/><Relationship Id="rId49" Type="http://schemas.openxmlformats.org/officeDocument/2006/relationships/customXml" Target="../customXml/item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Slide" Target="notesSlides/notesSlide1.xml"/><Relationship Id="rId44" Type="http://schemas.openxmlformats.org/officeDocument/2006/relationships/notesSlide" Target="notesSlides/notesSlide8.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heme" Target="theme/theme2.xml"/><Relationship Id="rId35" Type="http://schemas.openxmlformats.org/officeDocument/2006/relationships/notesSlide" Target="notesSlides/notesSlide3.xml"/><Relationship Id="rId4" Type="http://schemas.openxmlformats.org/officeDocument/2006/relationships/theme" Target="theme/theme1.xml"/><Relationship Id="rId43" Type="http://schemas.openxmlformats.org/officeDocument/2006/relationships/notesSlide" Target="notesSlides/notesSlide7.xml"/><Relationship Id="rId9" Type="http://schemas.openxmlformats.org/officeDocument/2006/relationships/slide" Target="slides/slide4.xml"/><Relationship Id="rId48" Type="http://schemas.openxmlformats.org/officeDocument/2006/relationships/customXml" Target="../customXml/item1.xml"/><Relationship Id="rId8" Type="http://schemas.openxmlformats.org/officeDocument/2006/relationships/slide" Target="slides/slide3.xml"/><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3.fntdata"/><Relationship Id="rId38" Type="http://schemas.openxmlformats.org/officeDocument/2006/relationships/font" Target="fonts/font38.fntdata"/><Relationship Id="rId46" Type="http://schemas.openxmlformats.org/officeDocument/2006/relationships/notesSlide" Target="notesSlides/notesSlide10.xml"/><Relationship Id="rId20" Type="http://schemas.openxmlformats.org/officeDocument/2006/relationships/slide" Target="slides/slide15.xml"/><Relationship Id="rId41" Type="http://schemas.openxmlformats.org/officeDocument/2006/relationships/notesSlide" Target="notesSlides/notesSlide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png" Type="http://schemas.openxmlformats.org/officeDocument/2006/relationships/image"/><Relationship Id="rId5" Target="http://linkedin.com/in/mariam-el-gazzar-b53a90220" TargetMode="External" Type="http://schemas.openxmlformats.org/officeDocument/2006/relationships/hyperlink"/><Relationship Id="rId6" Target="../media/image7.png" Type="http://schemas.openxmlformats.org/officeDocument/2006/relationships/image"/><Relationship Id="rId7" Target="http://linkedin.com/in/ahmed-hany25" TargetMode="External" Type="http://schemas.openxmlformats.org/officeDocument/2006/relationships/hyperlink"/><Relationship Id="rId8" Target="http://www.linkedin.com/in/%20mohamed-elzagh-311496289"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bin" Type="http://schemas.openxmlformats.org/officeDocument/2006/relationships/oleObject"/><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6.gif"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grpSp>
        <p:nvGrpSpPr>
          <p:cNvPr name="Group 2" id="2"/>
          <p:cNvGrpSpPr/>
          <p:nvPr/>
        </p:nvGrpSpPr>
        <p:grpSpPr>
          <a:xfrm rot="0">
            <a:off x="7929154" y="247008"/>
            <a:ext cx="1599011" cy="524091"/>
            <a:chOff x="0" y="0"/>
            <a:chExt cx="2132015" cy="698788"/>
          </a:xfrm>
        </p:grpSpPr>
        <p:sp>
          <p:nvSpPr>
            <p:cNvPr name="Freeform 3" id="3"/>
            <p:cNvSpPr/>
            <p:nvPr/>
          </p:nvSpPr>
          <p:spPr>
            <a:xfrm flipH="false" flipV="false" rot="0">
              <a:off x="0" y="0"/>
              <a:ext cx="2132076" cy="698754"/>
            </a:xfrm>
            <a:custGeom>
              <a:avLst/>
              <a:gdLst/>
              <a:ahLst/>
              <a:cxnLst/>
              <a:rect r="r" b="b" t="t" l="l"/>
              <a:pathLst>
                <a:path h="698754" w="2132076">
                  <a:moveTo>
                    <a:pt x="0" y="0"/>
                  </a:moveTo>
                  <a:lnTo>
                    <a:pt x="2132076" y="0"/>
                  </a:lnTo>
                  <a:lnTo>
                    <a:pt x="2132076" y="698754"/>
                  </a:lnTo>
                  <a:lnTo>
                    <a:pt x="0" y="698754"/>
                  </a:lnTo>
                  <a:lnTo>
                    <a:pt x="0" y="0"/>
                  </a:lnTo>
                  <a:close/>
                </a:path>
              </a:pathLst>
            </a:custGeom>
            <a:blipFill>
              <a:blip r:embed="rId3"/>
              <a:stretch>
                <a:fillRect l="0" t="-123" r="2" b="-128"/>
              </a:stretch>
            </a:blipFill>
          </p:spPr>
        </p:sp>
      </p:grpSp>
      <p:sp>
        <p:nvSpPr>
          <p:cNvPr name="Freeform 4" id="4"/>
          <p:cNvSpPr/>
          <p:nvPr/>
        </p:nvSpPr>
        <p:spPr>
          <a:xfrm flipH="false" flipV="false" rot="0">
            <a:off x="495902" y="403958"/>
            <a:ext cx="1360963" cy="210192"/>
          </a:xfrm>
          <a:custGeom>
            <a:avLst/>
            <a:gdLst/>
            <a:ahLst/>
            <a:cxnLst/>
            <a:rect r="r" b="b" t="t" l="l"/>
            <a:pathLst>
              <a:path h="210192" w="1360963">
                <a:moveTo>
                  <a:pt x="0" y="0"/>
                </a:moveTo>
                <a:lnTo>
                  <a:pt x="1360963" y="0"/>
                </a:lnTo>
                <a:lnTo>
                  <a:pt x="1360963" y="210192"/>
                </a:lnTo>
                <a:lnTo>
                  <a:pt x="0" y="210192"/>
                </a:lnTo>
                <a:lnTo>
                  <a:pt x="0" y="0"/>
                </a:lnTo>
                <a:close/>
              </a:path>
            </a:pathLst>
          </a:custGeom>
          <a:blipFill>
            <a:blip r:embed="rId4">
              <a:extLst>
                <a:ext uri="{96DAC541-7B7A-43D3-8B79-37D633B846F1}">
                  <asvg:svgBlip xmlns:asvg="http://schemas.microsoft.com/office/drawing/2016/SVG/main" r:embed="rId5"/>
                </a:ext>
              </a:extLst>
            </a:blip>
            <a:stretch>
              <a:fillRect l="0" t="-2070" r="0" b="-2070"/>
            </a:stretch>
          </a:blipFill>
        </p:spPr>
      </p:sp>
      <p:sp>
        <p:nvSpPr>
          <p:cNvPr name="TextBox 5" id="5"/>
          <p:cNvSpPr txBox="true"/>
          <p:nvPr/>
        </p:nvSpPr>
        <p:spPr>
          <a:xfrm rot="0">
            <a:off x="865901" y="2703372"/>
            <a:ext cx="8671800" cy="135255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E-commerce Sales Analysis project.</a:t>
            </a:r>
          </a:p>
        </p:txBody>
      </p:sp>
      <p:sp>
        <p:nvSpPr>
          <p:cNvPr name="TextBox 6" id="6"/>
          <p:cNvSpPr txBox="true"/>
          <p:nvPr/>
        </p:nvSpPr>
        <p:spPr>
          <a:xfrm rot="0">
            <a:off x="865901" y="4050112"/>
            <a:ext cx="6045000" cy="409702"/>
          </a:xfrm>
          <a:prstGeom prst="rect">
            <a:avLst/>
          </a:prstGeom>
        </p:spPr>
        <p:txBody>
          <a:bodyPr anchor="t" rtlCol="false" tIns="0" lIns="0" bIns="0" rIns="0">
            <a:spAutoFit/>
          </a:bodyPr>
          <a:lstStyle/>
          <a:p>
            <a:pPr algn="l">
              <a:lnSpc>
                <a:spcPts val="2879"/>
              </a:lnSpc>
            </a:pPr>
            <a:r>
              <a:rPr lang="en-US" sz="2400">
                <a:solidFill>
                  <a:srgbClr val="00B3E3"/>
                </a:solidFill>
                <a:latin typeface="Arial"/>
                <a:ea typeface="Arial"/>
                <a:cs typeface="Arial"/>
                <a:sym typeface="Arial"/>
              </a:rPr>
              <a:t>SIC – AI702</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sp>
        <p:nvSpPr>
          <p:cNvPr name="TextBox 6" id="6"/>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7" id="7"/>
          <p:cNvSpPr txBox="true"/>
          <p:nvPr/>
        </p:nvSpPr>
        <p:spPr>
          <a:xfrm rot="0">
            <a:off x="449106" y="184327"/>
            <a:ext cx="4414311" cy="809625"/>
          </a:xfrm>
          <a:prstGeom prst="rect">
            <a:avLst/>
          </a:prstGeom>
        </p:spPr>
        <p:txBody>
          <a:bodyPr anchor="t" rtlCol="false" tIns="0" lIns="0" bIns="0" rIns="0">
            <a:spAutoFit/>
          </a:bodyPr>
          <a:lstStyle/>
          <a:p>
            <a:pPr algn="l">
              <a:lnSpc>
                <a:spcPts val="5038"/>
              </a:lnSpc>
            </a:pPr>
            <a:r>
              <a:rPr lang="en-US" sz="4198">
                <a:solidFill>
                  <a:srgbClr val="FFFFFF"/>
                </a:solidFill>
                <a:latin typeface="Arial"/>
                <a:ea typeface="Arial"/>
                <a:cs typeface="Arial"/>
                <a:sym typeface="Arial"/>
              </a:rPr>
              <a:t>Agenda</a:t>
            </a:r>
          </a:p>
        </p:txBody>
      </p:sp>
      <p:sp>
        <p:nvSpPr>
          <p:cNvPr name="TextBox 8" id="8"/>
          <p:cNvSpPr txBox="true"/>
          <p:nvPr/>
        </p:nvSpPr>
        <p:spPr>
          <a:xfrm rot="0">
            <a:off x="190678" y="1700748"/>
            <a:ext cx="8803152" cy="2943200"/>
          </a:xfrm>
          <a:prstGeom prst="rect">
            <a:avLst/>
          </a:prstGeom>
        </p:spPr>
        <p:txBody>
          <a:bodyPr anchor="t" rtlCol="false" tIns="0" lIns="0" bIns="0" rIns="0">
            <a:spAutoFit/>
          </a:bodyPr>
          <a:lstStyle/>
          <a:p>
            <a:pPr algn="l" marL="731395" indent="-243798" lvl="2">
              <a:lnSpc>
                <a:spcPts val="3839"/>
              </a:lnSpc>
              <a:buFont typeface="Arial"/>
              <a:buChar char="⚬"/>
            </a:pPr>
            <a:r>
              <a:rPr lang="en-US" sz="3199">
                <a:solidFill>
                  <a:srgbClr val="7F7F7F"/>
                </a:solidFill>
                <a:latin typeface="Arimo"/>
                <a:ea typeface="Arimo"/>
                <a:cs typeface="Arimo"/>
                <a:sym typeface="Arimo"/>
              </a:rPr>
              <a:t>Team Members</a:t>
            </a:r>
          </a:p>
          <a:p>
            <a:pPr algn="l" marL="731395" indent="-243798" lvl="2">
              <a:lnSpc>
                <a:spcPts val="3839"/>
              </a:lnSpc>
              <a:buFont typeface="Arial"/>
              <a:buChar char="⚬"/>
            </a:pPr>
            <a:r>
              <a:rPr lang="en-US" sz="3199">
                <a:solidFill>
                  <a:srgbClr val="7F7F7F"/>
                </a:solidFill>
                <a:latin typeface="Arimo"/>
                <a:ea typeface="Arimo"/>
                <a:cs typeface="Arimo"/>
                <a:sym typeface="Arimo"/>
              </a:rPr>
              <a:t>Overview</a:t>
            </a:r>
          </a:p>
          <a:p>
            <a:pPr algn="l" marL="731395" indent="-243798" lvl="2">
              <a:lnSpc>
                <a:spcPts val="3839"/>
              </a:lnSpc>
              <a:buFont typeface="Arial"/>
              <a:buChar char="⚬"/>
            </a:pPr>
            <a:r>
              <a:rPr lang="en-US" sz="3199">
                <a:solidFill>
                  <a:srgbClr val="7F7F7F"/>
                </a:solidFill>
                <a:latin typeface="Arimo"/>
                <a:ea typeface="Arimo"/>
                <a:cs typeface="Arimo"/>
                <a:sym typeface="Arimo"/>
              </a:rPr>
              <a:t>Problem Statment</a:t>
            </a:r>
          </a:p>
          <a:p>
            <a:pPr algn="l" marL="731395" indent="-243798" lvl="2">
              <a:lnSpc>
                <a:spcPts val="3839"/>
              </a:lnSpc>
              <a:buFont typeface="Arial"/>
              <a:buChar char="⚬"/>
            </a:pPr>
            <a:r>
              <a:rPr lang="en-US" sz="3199">
                <a:solidFill>
                  <a:srgbClr val="7F7F7F"/>
                </a:solidFill>
                <a:latin typeface="Arimo"/>
                <a:ea typeface="Arimo"/>
                <a:cs typeface="Arimo"/>
                <a:sym typeface="Arimo"/>
              </a:rPr>
              <a:t>Data preparation </a:t>
            </a:r>
          </a:p>
          <a:p>
            <a:pPr algn="l" marL="731395" indent="-243798" lvl="2">
              <a:lnSpc>
                <a:spcPts val="3839"/>
              </a:lnSpc>
              <a:buFont typeface="Arial"/>
              <a:buChar char="⚬"/>
            </a:pPr>
            <a:r>
              <a:rPr lang="en-US" sz="3199">
                <a:solidFill>
                  <a:srgbClr val="7F7F7F"/>
                </a:solidFill>
                <a:latin typeface="Arimo"/>
                <a:ea typeface="Arimo"/>
                <a:cs typeface="Arimo"/>
                <a:sym typeface="Arimo"/>
              </a:rPr>
              <a:t>E.D.A</a:t>
            </a:r>
          </a:p>
          <a:p>
            <a:pPr algn="l" marL="731395" indent="-243798" lvl="2">
              <a:lnSpc>
                <a:spcPts val="3839"/>
              </a:lnSpc>
              <a:buFont typeface="Arial"/>
              <a:buChar char="⚬"/>
            </a:pPr>
            <a:r>
              <a:rPr lang="en-US" sz="3199">
                <a:solidFill>
                  <a:srgbClr val="7F7F7F"/>
                </a:solidFill>
                <a:latin typeface="Arimo"/>
                <a:ea typeface="Arimo"/>
                <a:cs typeface="Arimo"/>
                <a:sym typeface="Arimo"/>
              </a:rPr>
              <a:t>Analyzing e-commerce sales using Power BI</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grpSp>
        <p:nvGrpSpPr>
          <p:cNvPr name="Group 6" id="6"/>
          <p:cNvGrpSpPr/>
          <p:nvPr/>
        </p:nvGrpSpPr>
        <p:grpSpPr>
          <a:xfrm rot="0">
            <a:off x="442158" y="1825374"/>
            <a:ext cx="2500833" cy="3751249"/>
            <a:chOff x="0" y="0"/>
            <a:chExt cx="3334444" cy="5001665"/>
          </a:xfrm>
        </p:grpSpPr>
        <p:sp>
          <p:nvSpPr>
            <p:cNvPr name="Freeform 7" id="7"/>
            <p:cNvSpPr/>
            <p:nvPr/>
          </p:nvSpPr>
          <p:spPr>
            <a:xfrm flipH="false" flipV="false" rot="0">
              <a:off x="0" y="0"/>
              <a:ext cx="3334385" cy="5001641"/>
            </a:xfrm>
            <a:custGeom>
              <a:avLst/>
              <a:gdLst/>
              <a:ahLst/>
              <a:cxnLst/>
              <a:rect r="r" b="b" t="t" l="l"/>
              <a:pathLst>
                <a:path h="5001641" w="3334385">
                  <a:moveTo>
                    <a:pt x="0" y="0"/>
                  </a:moveTo>
                  <a:lnTo>
                    <a:pt x="3334385" y="0"/>
                  </a:lnTo>
                  <a:lnTo>
                    <a:pt x="3334385" y="5001641"/>
                  </a:lnTo>
                  <a:lnTo>
                    <a:pt x="0" y="5001641"/>
                  </a:lnTo>
                  <a:lnTo>
                    <a:pt x="0" y="0"/>
                  </a:lnTo>
                  <a:close/>
                </a:path>
              </a:pathLst>
            </a:custGeom>
            <a:blipFill>
              <a:blip r:embed="rId2"/>
              <a:stretch>
                <a:fillRect l="-6250" t="0" r="-6250" b="0"/>
              </a:stretch>
            </a:blipFill>
          </p:spPr>
        </p:sp>
      </p:grpSp>
      <p:grpSp>
        <p:nvGrpSpPr>
          <p:cNvPr name="Group 8" id="8"/>
          <p:cNvGrpSpPr/>
          <p:nvPr/>
        </p:nvGrpSpPr>
        <p:grpSpPr>
          <a:xfrm rot="0">
            <a:off x="3599813" y="1825374"/>
            <a:ext cx="2500833" cy="3751249"/>
            <a:chOff x="0" y="0"/>
            <a:chExt cx="3334444" cy="5001665"/>
          </a:xfrm>
        </p:grpSpPr>
        <p:sp>
          <p:nvSpPr>
            <p:cNvPr name="Freeform 9" id="9"/>
            <p:cNvSpPr/>
            <p:nvPr/>
          </p:nvSpPr>
          <p:spPr>
            <a:xfrm flipH="false" flipV="false" rot="0">
              <a:off x="0" y="0"/>
              <a:ext cx="3334385" cy="5001641"/>
            </a:xfrm>
            <a:custGeom>
              <a:avLst/>
              <a:gdLst/>
              <a:ahLst/>
              <a:cxnLst/>
              <a:rect r="r" b="b" t="t" l="l"/>
              <a:pathLst>
                <a:path h="5001641" w="3334385">
                  <a:moveTo>
                    <a:pt x="0" y="0"/>
                  </a:moveTo>
                  <a:lnTo>
                    <a:pt x="3334385" y="0"/>
                  </a:lnTo>
                  <a:lnTo>
                    <a:pt x="3334385" y="5001641"/>
                  </a:lnTo>
                  <a:lnTo>
                    <a:pt x="0" y="5001641"/>
                  </a:lnTo>
                  <a:lnTo>
                    <a:pt x="0" y="0"/>
                  </a:lnTo>
                  <a:close/>
                </a:path>
              </a:pathLst>
            </a:custGeom>
            <a:blipFill>
              <a:blip r:embed="rId3"/>
              <a:stretch>
                <a:fillRect l="-59840" t="0" r="-65303" b="0"/>
              </a:stretch>
            </a:blipFill>
          </p:spPr>
        </p:sp>
      </p:grpSp>
      <p:grpSp>
        <p:nvGrpSpPr>
          <p:cNvPr name="Group 10" id="10"/>
          <p:cNvGrpSpPr/>
          <p:nvPr/>
        </p:nvGrpSpPr>
        <p:grpSpPr>
          <a:xfrm rot="0">
            <a:off x="194099" y="5773963"/>
            <a:ext cx="387862" cy="268778"/>
            <a:chOff x="0" y="0"/>
            <a:chExt cx="517149" cy="358371"/>
          </a:xfrm>
        </p:grpSpPr>
        <p:sp>
          <p:nvSpPr>
            <p:cNvPr name="Freeform 11" id="11"/>
            <p:cNvSpPr/>
            <p:nvPr/>
          </p:nvSpPr>
          <p:spPr>
            <a:xfrm flipH="false" flipV="false" rot="0">
              <a:off x="0" y="0"/>
              <a:ext cx="517144" cy="358394"/>
            </a:xfrm>
            <a:custGeom>
              <a:avLst/>
              <a:gdLst/>
              <a:ahLst/>
              <a:cxnLst/>
              <a:rect r="r" b="b" t="t" l="l"/>
              <a:pathLst>
                <a:path h="358394" w="517144">
                  <a:moveTo>
                    <a:pt x="0" y="0"/>
                  </a:moveTo>
                  <a:lnTo>
                    <a:pt x="517144" y="0"/>
                  </a:lnTo>
                  <a:lnTo>
                    <a:pt x="517144" y="358394"/>
                  </a:lnTo>
                  <a:lnTo>
                    <a:pt x="0" y="358394"/>
                  </a:lnTo>
                  <a:lnTo>
                    <a:pt x="0" y="0"/>
                  </a:lnTo>
                  <a:close/>
                </a:path>
              </a:pathLst>
            </a:custGeom>
            <a:blipFill>
              <a:blip r:embed="rId4"/>
              <a:stretch>
                <a:fillRect l="0" t="-22151" r="-1" b="-22144"/>
              </a:stretch>
            </a:blipFill>
          </p:spPr>
        </p:sp>
      </p:grpSp>
      <p:sp>
        <p:nvSpPr>
          <p:cNvPr name="TextBox 12" id="12"/>
          <p:cNvSpPr txBox="true"/>
          <p:nvPr/>
        </p:nvSpPr>
        <p:spPr>
          <a:xfrm rot="0">
            <a:off x="4141398" y="5685857"/>
            <a:ext cx="2673219" cy="371450"/>
          </a:xfrm>
          <a:prstGeom prst="rect">
            <a:avLst/>
          </a:prstGeom>
        </p:spPr>
        <p:txBody>
          <a:bodyPr anchor="t" rtlCol="false" tIns="0" lIns="0" bIns="0" rIns="0">
            <a:spAutoFit/>
          </a:bodyPr>
          <a:lstStyle/>
          <a:p>
            <a:pPr algn="l">
              <a:lnSpc>
                <a:spcPts val="2879"/>
              </a:lnSpc>
            </a:pPr>
            <a:r>
              <a:rPr lang="en-US" sz="2399" u="sng">
                <a:solidFill>
                  <a:srgbClr val="0000FF"/>
                </a:solidFill>
                <a:latin typeface="Arimo"/>
                <a:ea typeface="Arimo"/>
                <a:cs typeface="Arimo"/>
                <a:sym typeface="Arimo"/>
                <a:hlinkClick r:id="rId5" tooltip="http://linkedin.com/in/mariam-el-gazzar-b53a90220"/>
              </a:rPr>
              <a:t>mariam sherif</a:t>
            </a:r>
          </a:p>
        </p:txBody>
      </p:sp>
      <p:grpSp>
        <p:nvGrpSpPr>
          <p:cNvPr name="Group 13" id="13"/>
          <p:cNvGrpSpPr/>
          <p:nvPr/>
        </p:nvGrpSpPr>
        <p:grpSpPr>
          <a:xfrm rot="0">
            <a:off x="3647438" y="5756256"/>
            <a:ext cx="387862" cy="268778"/>
            <a:chOff x="0" y="0"/>
            <a:chExt cx="517149" cy="358371"/>
          </a:xfrm>
        </p:grpSpPr>
        <p:sp>
          <p:nvSpPr>
            <p:cNvPr name="Freeform 14" id="14"/>
            <p:cNvSpPr/>
            <p:nvPr/>
          </p:nvSpPr>
          <p:spPr>
            <a:xfrm flipH="false" flipV="false" rot="0">
              <a:off x="0" y="0"/>
              <a:ext cx="517144" cy="358394"/>
            </a:xfrm>
            <a:custGeom>
              <a:avLst/>
              <a:gdLst/>
              <a:ahLst/>
              <a:cxnLst/>
              <a:rect r="r" b="b" t="t" l="l"/>
              <a:pathLst>
                <a:path h="358394" w="517144">
                  <a:moveTo>
                    <a:pt x="0" y="0"/>
                  </a:moveTo>
                  <a:lnTo>
                    <a:pt x="517144" y="0"/>
                  </a:lnTo>
                  <a:lnTo>
                    <a:pt x="517144" y="358394"/>
                  </a:lnTo>
                  <a:lnTo>
                    <a:pt x="0" y="358394"/>
                  </a:lnTo>
                  <a:lnTo>
                    <a:pt x="0" y="0"/>
                  </a:lnTo>
                  <a:close/>
                </a:path>
              </a:pathLst>
            </a:custGeom>
            <a:blipFill>
              <a:blip r:embed="rId4"/>
              <a:stretch>
                <a:fillRect l="0" t="-22151" r="-1" b="-22144"/>
              </a:stretch>
            </a:blipFill>
          </p:spPr>
        </p:sp>
      </p:grpSp>
      <p:grpSp>
        <p:nvGrpSpPr>
          <p:cNvPr name="Group 15" id="15"/>
          <p:cNvGrpSpPr/>
          <p:nvPr/>
        </p:nvGrpSpPr>
        <p:grpSpPr>
          <a:xfrm rot="0">
            <a:off x="6757871" y="5768010"/>
            <a:ext cx="387862" cy="268778"/>
            <a:chOff x="0" y="0"/>
            <a:chExt cx="517149" cy="358371"/>
          </a:xfrm>
        </p:grpSpPr>
        <p:sp>
          <p:nvSpPr>
            <p:cNvPr name="Freeform 16" id="16"/>
            <p:cNvSpPr/>
            <p:nvPr/>
          </p:nvSpPr>
          <p:spPr>
            <a:xfrm flipH="false" flipV="false" rot="0">
              <a:off x="0" y="0"/>
              <a:ext cx="517144" cy="358394"/>
            </a:xfrm>
            <a:custGeom>
              <a:avLst/>
              <a:gdLst/>
              <a:ahLst/>
              <a:cxnLst/>
              <a:rect r="r" b="b" t="t" l="l"/>
              <a:pathLst>
                <a:path h="358394" w="517144">
                  <a:moveTo>
                    <a:pt x="0" y="0"/>
                  </a:moveTo>
                  <a:lnTo>
                    <a:pt x="517144" y="0"/>
                  </a:lnTo>
                  <a:lnTo>
                    <a:pt x="517144" y="358394"/>
                  </a:lnTo>
                  <a:lnTo>
                    <a:pt x="0" y="358394"/>
                  </a:lnTo>
                  <a:lnTo>
                    <a:pt x="0" y="0"/>
                  </a:lnTo>
                  <a:close/>
                </a:path>
              </a:pathLst>
            </a:custGeom>
            <a:blipFill>
              <a:blip r:embed="rId4"/>
              <a:stretch>
                <a:fillRect l="0" t="-22151" r="-1" b="-22144"/>
              </a:stretch>
            </a:blipFill>
          </p:spPr>
        </p:sp>
      </p:grpSp>
      <p:sp>
        <p:nvSpPr>
          <p:cNvPr name="Freeform 17" id="17"/>
          <p:cNvSpPr/>
          <p:nvPr/>
        </p:nvSpPr>
        <p:spPr>
          <a:xfrm flipH="false" flipV="false" rot="0">
            <a:off x="6757871" y="1825374"/>
            <a:ext cx="2257741" cy="3870008"/>
          </a:xfrm>
          <a:custGeom>
            <a:avLst/>
            <a:gdLst/>
            <a:ahLst/>
            <a:cxnLst/>
            <a:rect r="r" b="b" t="t" l="l"/>
            <a:pathLst>
              <a:path h="3870008" w="2257741">
                <a:moveTo>
                  <a:pt x="0" y="0"/>
                </a:moveTo>
                <a:lnTo>
                  <a:pt x="2257741" y="0"/>
                </a:lnTo>
                <a:lnTo>
                  <a:pt x="2257741" y="3870008"/>
                </a:lnTo>
                <a:lnTo>
                  <a:pt x="0" y="3870008"/>
                </a:lnTo>
                <a:lnTo>
                  <a:pt x="0" y="0"/>
                </a:lnTo>
                <a:close/>
              </a:path>
            </a:pathLst>
          </a:custGeom>
          <a:blipFill>
            <a:blip r:embed="rId6"/>
            <a:stretch>
              <a:fillRect l="0" t="-1602" r="0" b="-945"/>
            </a:stretch>
          </a:blipFill>
        </p:spPr>
      </p:sp>
      <p:sp>
        <p:nvSpPr>
          <p:cNvPr name="TextBox 18" id="18"/>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19" id="19"/>
          <p:cNvSpPr txBox="true"/>
          <p:nvPr/>
        </p:nvSpPr>
        <p:spPr>
          <a:xfrm rot="0">
            <a:off x="2942991" y="108127"/>
            <a:ext cx="4414311" cy="809625"/>
          </a:xfrm>
          <a:prstGeom prst="rect">
            <a:avLst/>
          </a:prstGeom>
        </p:spPr>
        <p:txBody>
          <a:bodyPr anchor="t" rtlCol="false" tIns="0" lIns="0" bIns="0" rIns="0">
            <a:spAutoFit/>
          </a:bodyPr>
          <a:lstStyle/>
          <a:p>
            <a:pPr algn="l">
              <a:lnSpc>
                <a:spcPts val="5038"/>
              </a:lnSpc>
            </a:pPr>
            <a:r>
              <a:rPr lang="en-US" sz="4198">
                <a:solidFill>
                  <a:srgbClr val="FFFFFF"/>
                </a:solidFill>
                <a:latin typeface="Arial"/>
                <a:ea typeface="Arial"/>
                <a:cs typeface="Arial"/>
                <a:sym typeface="Arial"/>
              </a:rPr>
              <a:t>Team Members</a:t>
            </a:r>
          </a:p>
        </p:txBody>
      </p:sp>
      <p:sp>
        <p:nvSpPr>
          <p:cNvPr name="TextBox 20" id="20"/>
          <p:cNvSpPr txBox="true"/>
          <p:nvPr/>
        </p:nvSpPr>
        <p:spPr>
          <a:xfrm rot="0">
            <a:off x="7216906" y="5685857"/>
            <a:ext cx="2673219" cy="371450"/>
          </a:xfrm>
          <a:prstGeom prst="rect">
            <a:avLst/>
          </a:prstGeom>
        </p:spPr>
        <p:txBody>
          <a:bodyPr anchor="t" rtlCol="false" tIns="0" lIns="0" bIns="0" rIns="0">
            <a:spAutoFit/>
          </a:bodyPr>
          <a:lstStyle/>
          <a:p>
            <a:pPr algn="l">
              <a:lnSpc>
                <a:spcPts val="2879"/>
              </a:lnSpc>
            </a:pPr>
            <a:r>
              <a:rPr lang="en-US" sz="2399" u="sng">
                <a:solidFill>
                  <a:srgbClr val="0000FF"/>
                </a:solidFill>
                <a:latin typeface="Arimo"/>
                <a:ea typeface="Arimo"/>
                <a:cs typeface="Arimo"/>
                <a:sym typeface="Arimo"/>
                <a:hlinkClick r:id="rId7" tooltip="http://linkedin.com/in/ahmed-hany25"/>
              </a:rPr>
              <a:t>Ahmed Hany</a:t>
            </a:r>
          </a:p>
        </p:txBody>
      </p:sp>
      <p:sp>
        <p:nvSpPr>
          <p:cNvPr name="TextBox 21" id="21"/>
          <p:cNvSpPr txBox="true"/>
          <p:nvPr/>
        </p:nvSpPr>
        <p:spPr>
          <a:xfrm rot="0">
            <a:off x="680382" y="5685857"/>
            <a:ext cx="2673219" cy="371450"/>
          </a:xfrm>
          <a:prstGeom prst="rect">
            <a:avLst/>
          </a:prstGeom>
        </p:spPr>
        <p:txBody>
          <a:bodyPr anchor="t" rtlCol="false" tIns="0" lIns="0" bIns="0" rIns="0">
            <a:spAutoFit/>
          </a:bodyPr>
          <a:lstStyle/>
          <a:p>
            <a:pPr algn="l">
              <a:lnSpc>
                <a:spcPts val="2879"/>
              </a:lnSpc>
            </a:pPr>
            <a:r>
              <a:rPr lang="en-US" sz="2399" u="sng">
                <a:solidFill>
                  <a:srgbClr val="0000FF"/>
                </a:solidFill>
                <a:latin typeface="Arimo"/>
                <a:ea typeface="Arimo"/>
                <a:cs typeface="Arimo"/>
                <a:sym typeface="Arimo"/>
                <a:hlinkClick r:id="rId8" tooltip="http://www.linkedin.com/in/%20mohamed-elzagh-311496289"/>
              </a:rPr>
              <a:t>Mohamed Elzagh</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193EB0"/>
        </a:solidFill>
      </p:bgPr>
    </p:bg>
    <p:spTree>
      <p:nvGrpSpPr>
        <p:cNvPr id="1" name=""/>
        <p:cNvGrpSpPr/>
        <p:nvPr/>
      </p:nvGrpSpPr>
      <p:grpSpPr>
        <a:xfrm>
          <a:off x="0" y="0"/>
          <a:ext cx="0" cy="0"/>
          <a:chOff x="0" y="0"/>
          <a:chExt cx="0" cy="0"/>
        </a:xfrm>
      </p:grpSpPr>
      <p:sp>
        <p:nvSpPr>
          <p:cNvPr name="TextBox 2" id="2"/>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3" id="3"/>
          <p:cNvSpPr txBox="true"/>
          <p:nvPr/>
        </p:nvSpPr>
        <p:spPr>
          <a:xfrm rot="0">
            <a:off x="945930" y="2869575"/>
            <a:ext cx="7008600" cy="68580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Overview</a:t>
            </a:r>
          </a:p>
        </p:txBody>
      </p:sp>
      <p:grpSp>
        <p:nvGrpSpPr>
          <p:cNvPr name="Group 4" id="4"/>
          <p:cNvGrpSpPr/>
          <p:nvPr/>
        </p:nvGrpSpPr>
        <p:grpSpPr>
          <a:xfrm rot="5400000">
            <a:off x="-821348" y="3286215"/>
            <a:ext cx="2944980" cy="28575"/>
            <a:chOff x="0" y="0"/>
            <a:chExt cx="3926640" cy="38100"/>
          </a:xfrm>
        </p:grpSpPr>
        <p:sp>
          <p:nvSpPr>
            <p:cNvPr name="Freeform 5" id="5"/>
            <p:cNvSpPr/>
            <p:nvPr/>
          </p:nvSpPr>
          <p:spPr>
            <a:xfrm flipH="false" flipV="false" rot="0">
              <a:off x="0" y="0"/>
              <a:ext cx="3926586" cy="38100"/>
            </a:xfrm>
            <a:custGeom>
              <a:avLst/>
              <a:gdLst/>
              <a:ahLst/>
              <a:cxnLst/>
              <a:rect r="r" b="b" t="t" l="l"/>
              <a:pathLst>
                <a:path h="38100" w="3926586">
                  <a:moveTo>
                    <a:pt x="19050" y="0"/>
                  </a:moveTo>
                  <a:lnTo>
                    <a:pt x="3907536" y="0"/>
                  </a:lnTo>
                  <a:cubicBezTo>
                    <a:pt x="3918077" y="0"/>
                    <a:pt x="3926586" y="8509"/>
                    <a:pt x="3926586" y="19050"/>
                  </a:cubicBezTo>
                  <a:cubicBezTo>
                    <a:pt x="3926586" y="29591"/>
                    <a:pt x="3918077" y="38100"/>
                    <a:pt x="3907536" y="38100"/>
                  </a:cubicBezTo>
                  <a:lnTo>
                    <a:pt x="19050" y="38100"/>
                  </a:lnTo>
                  <a:cubicBezTo>
                    <a:pt x="8509" y="38100"/>
                    <a:pt x="0" y="29591"/>
                    <a:pt x="0" y="19050"/>
                  </a:cubicBezTo>
                  <a:cubicBezTo>
                    <a:pt x="0" y="8509"/>
                    <a:pt x="8509" y="0"/>
                    <a:pt x="19050" y="0"/>
                  </a:cubicBezTo>
                  <a:close/>
                </a:path>
              </a:pathLst>
            </a:custGeom>
            <a:solidFill>
              <a:srgbClr val="FFFFFF"/>
            </a:solid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grpSp>
        <p:nvGrpSpPr>
          <p:cNvPr name="Group 6" id="6"/>
          <p:cNvGrpSpPr/>
          <p:nvPr/>
        </p:nvGrpSpPr>
        <p:grpSpPr>
          <a:xfrm rot="0">
            <a:off x="2248125" y="4072357"/>
            <a:ext cx="4931371" cy="2146597"/>
            <a:chOff x="0" y="0"/>
            <a:chExt cx="6575161" cy="2862129"/>
          </a:xfrm>
        </p:grpSpPr>
        <p:sp>
          <p:nvSpPr>
            <p:cNvPr name="Freeform 7" id="7"/>
            <p:cNvSpPr/>
            <p:nvPr/>
          </p:nvSpPr>
          <p:spPr>
            <a:xfrm flipH="false" flipV="false" rot="0">
              <a:off x="0" y="0"/>
              <a:ext cx="6575171" cy="2862072"/>
            </a:xfrm>
            <a:custGeom>
              <a:avLst/>
              <a:gdLst/>
              <a:ahLst/>
              <a:cxnLst/>
              <a:rect r="r" b="b" t="t" l="l"/>
              <a:pathLst>
                <a:path h="2862072" w="6575171">
                  <a:moveTo>
                    <a:pt x="0" y="0"/>
                  </a:moveTo>
                  <a:lnTo>
                    <a:pt x="6575171" y="0"/>
                  </a:lnTo>
                  <a:lnTo>
                    <a:pt x="6575171" y="2862072"/>
                  </a:lnTo>
                  <a:lnTo>
                    <a:pt x="0" y="2862072"/>
                  </a:lnTo>
                  <a:lnTo>
                    <a:pt x="0" y="0"/>
                  </a:lnTo>
                  <a:close/>
                </a:path>
              </a:pathLst>
            </a:custGeom>
            <a:blipFill>
              <a:blip r:embed="rId2"/>
              <a:stretch>
                <a:fillRect l="0" t="0" r="0" b="-2"/>
              </a:stretch>
            </a:blipFill>
          </p:spPr>
        </p:sp>
      </p:grpSp>
      <p:sp>
        <p:nvSpPr>
          <p:cNvPr name="TextBox 8" id="8"/>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9" id="9"/>
          <p:cNvSpPr txBox="true"/>
          <p:nvPr/>
        </p:nvSpPr>
        <p:spPr>
          <a:xfrm rot="0">
            <a:off x="449106" y="184327"/>
            <a:ext cx="6730389" cy="723875"/>
          </a:xfrm>
          <a:prstGeom prst="rect">
            <a:avLst/>
          </a:prstGeom>
        </p:spPr>
        <p:txBody>
          <a:bodyPr anchor="t" rtlCol="false" tIns="0" lIns="0" bIns="0" rIns="0">
            <a:spAutoFit/>
          </a:bodyPr>
          <a:lstStyle/>
          <a:p>
            <a:pPr algn="l">
              <a:lnSpc>
                <a:spcPts val="5038"/>
              </a:lnSpc>
            </a:pPr>
            <a:r>
              <a:rPr lang="en-US" sz="4198">
                <a:solidFill>
                  <a:srgbClr val="FFFFFF"/>
                </a:solidFill>
                <a:latin typeface="Arial"/>
                <a:ea typeface="Arial"/>
                <a:cs typeface="Arial"/>
                <a:sym typeface="Arial"/>
              </a:rPr>
              <a:t>Overview</a:t>
            </a:r>
          </a:p>
        </p:txBody>
      </p:sp>
      <p:sp>
        <p:nvSpPr>
          <p:cNvPr name="TextBox 10" id="10"/>
          <p:cNvSpPr txBox="true"/>
          <p:nvPr/>
        </p:nvSpPr>
        <p:spPr>
          <a:xfrm rot="0">
            <a:off x="176923" y="1287044"/>
            <a:ext cx="9559859" cy="2647937"/>
          </a:xfrm>
          <a:prstGeom prst="rect">
            <a:avLst/>
          </a:prstGeom>
        </p:spPr>
        <p:txBody>
          <a:bodyPr anchor="t" rtlCol="false" tIns="0" lIns="0" bIns="0" rIns="0">
            <a:spAutoFit/>
          </a:bodyPr>
          <a:lstStyle/>
          <a:p>
            <a:pPr algn="l">
              <a:lnSpc>
                <a:spcPts val="2998"/>
              </a:lnSpc>
            </a:pPr>
            <a:r>
              <a:rPr lang="en-US" sz="2499">
                <a:solidFill>
                  <a:srgbClr val="000000"/>
                </a:solidFill>
                <a:latin typeface="Arial"/>
                <a:ea typeface="Arial"/>
                <a:cs typeface="Arial"/>
                <a:sym typeface="Arial"/>
              </a:rPr>
              <a:t>This project focuses on conducting data analysis on E-commers data and finding key insights on the business using visualization tools and data manipulation tools to extract question to help the business in solving problems.</a:t>
            </a:r>
          </a:p>
          <a:p>
            <a:pPr algn="l">
              <a:lnSpc>
                <a:spcPts val="2998"/>
              </a:lnSpc>
            </a:pPr>
          </a:p>
          <a:p>
            <a:pPr algn="l">
              <a:lnSpc>
                <a:spcPts val="2999"/>
              </a:lnSpc>
            </a:pPr>
            <a:r>
              <a:rPr lang="en-US" sz="2499">
                <a:solidFill>
                  <a:srgbClr val="000000"/>
                </a:solidFill>
                <a:latin typeface="Arial"/>
                <a:ea typeface="Arial"/>
                <a:cs typeface="Arial"/>
                <a:sym typeface="Arial"/>
              </a:rPr>
              <a:t>The ultimate goal is to transform raw data into an intuitive and interactive dashboard that empowers decision-makers.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bg>
      <p:bgPr>
        <a:solidFill>
          <a:srgbClr val="193EB0"/>
        </a:solidFill>
      </p:bgPr>
    </p:bg>
    <p:spTree>
      <p:nvGrpSpPr>
        <p:cNvPr id="1" name=""/>
        <p:cNvGrpSpPr/>
        <p:nvPr/>
      </p:nvGrpSpPr>
      <p:grpSpPr>
        <a:xfrm>
          <a:off x="0" y="0"/>
          <a:ext cx="0" cy="0"/>
          <a:chOff x="0" y="0"/>
          <a:chExt cx="0" cy="0"/>
        </a:xfrm>
      </p:grpSpPr>
      <p:sp>
        <p:nvSpPr>
          <p:cNvPr name="TextBox 2" id="2"/>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3" id="3"/>
          <p:cNvSpPr txBox="true"/>
          <p:nvPr/>
        </p:nvSpPr>
        <p:spPr>
          <a:xfrm rot="0">
            <a:off x="945930" y="2724150"/>
            <a:ext cx="7008600" cy="68580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Problem statement</a:t>
            </a:r>
          </a:p>
        </p:txBody>
      </p:sp>
      <p:grpSp>
        <p:nvGrpSpPr>
          <p:cNvPr name="Group 4" id="4"/>
          <p:cNvGrpSpPr/>
          <p:nvPr/>
        </p:nvGrpSpPr>
        <p:grpSpPr>
          <a:xfrm rot="5400000">
            <a:off x="-821348" y="3286215"/>
            <a:ext cx="2944980" cy="28575"/>
            <a:chOff x="0" y="0"/>
            <a:chExt cx="3926640" cy="38100"/>
          </a:xfrm>
        </p:grpSpPr>
        <p:sp>
          <p:nvSpPr>
            <p:cNvPr name="Freeform 5" id="5"/>
            <p:cNvSpPr/>
            <p:nvPr/>
          </p:nvSpPr>
          <p:spPr>
            <a:xfrm flipH="false" flipV="false" rot="0">
              <a:off x="0" y="0"/>
              <a:ext cx="3926586" cy="38100"/>
            </a:xfrm>
            <a:custGeom>
              <a:avLst/>
              <a:gdLst/>
              <a:ahLst/>
              <a:cxnLst/>
              <a:rect r="r" b="b" t="t" l="l"/>
              <a:pathLst>
                <a:path h="38100" w="3926586">
                  <a:moveTo>
                    <a:pt x="19050" y="0"/>
                  </a:moveTo>
                  <a:lnTo>
                    <a:pt x="3907536" y="0"/>
                  </a:lnTo>
                  <a:cubicBezTo>
                    <a:pt x="3918077" y="0"/>
                    <a:pt x="3926586" y="8509"/>
                    <a:pt x="3926586" y="19050"/>
                  </a:cubicBezTo>
                  <a:cubicBezTo>
                    <a:pt x="3926586" y="29591"/>
                    <a:pt x="3918077" y="38100"/>
                    <a:pt x="3907536" y="38100"/>
                  </a:cubicBezTo>
                  <a:lnTo>
                    <a:pt x="19050" y="38100"/>
                  </a:lnTo>
                  <a:cubicBezTo>
                    <a:pt x="8509" y="38100"/>
                    <a:pt x="0" y="29591"/>
                    <a:pt x="0" y="19050"/>
                  </a:cubicBezTo>
                  <a:cubicBezTo>
                    <a:pt x="0" y="8509"/>
                    <a:pt x="8509" y="0"/>
                    <a:pt x="19050" y="0"/>
                  </a:cubicBezTo>
                  <a:close/>
                </a:path>
              </a:pathLst>
            </a:custGeom>
            <a:solidFill>
              <a:srgbClr val="FFFFFF"/>
            </a:solid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sp>
        <p:nvSpPr>
          <p:cNvPr name="TextBox 4" id="4"/>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5" id="5"/>
          <p:cNvSpPr txBox="true"/>
          <p:nvPr/>
        </p:nvSpPr>
        <p:spPr>
          <a:xfrm rot="0">
            <a:off x="449106" y="184327"/>
            <a:ext cx="6730389" cy="723875"/>
          </a:xfrm>
          <a:prstGeom prst="rect">
            <a:avLst/>
          </a:prstGeom>
        </p:spPr>
        <p:txBody>
          <a:bodyPr anchor="t" rtlCol="false" tIns="0" lIns="0" bIns="0" rIns="0">
            <a:spAutoFit/>
          </a:bodyPr>
          <a:lstStyle/>
          <a:p>
            <a:pPr algn="l">
              <a:lnSpc>
                <a:spcPts val="5038"/>
              </a:lnSpc>
            </a:pPr>
            <a:r>
              <a:rPr lang="en-US" sz="4198">
                <a:solidFill>
                  <a:srgbClr val="FFFFFF"/>
                </a:solidFill>
                <a:latin typeface="Arial"/>
                <a:ea typeface="Arial"/>
                <a:cs typeface="Arial"/>
                <a:sym typeface="Arial"/>
              </a:rPr>
              <a:t>Problem statement</a:t>
            </a:r>
          </a:p>
        </p:txBody>
      </p:sp>
      <p:sp>
        <p:nvSpPr>
          <p:cNvPr name="TextBox 6" id="6"/>
          <p:cNvSpPr txBox="true"/>
          <p:nvPr/>
        </p:nvSpPr>
        <p:spPr>
          <a:xfrm rot="0">
            <a:off x="83732" y="1457272"/>
            <a:ext cx="9812743" cy="4282354"/>
          </a:xfrm>
          <a:prstGeom prst="rect">
            <a:avLst/>
          </a:prstGeom>
        </p:spPr>
        <p:txBody>
          <a:bodyPr anchor="t" rtlCol="false" tIns="0" lIns="0" bIns="0" rIns="0">
            <a:spAutoFit/>
          </a:bodyPr>
          <a:lstStyle/>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Which of our products are the true top-sellers?</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Which geographical regions are driving the most revenue?</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How do our sales fluctuate over time, and are there seasonal trends we can capitalize on?</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Which month has the most profit?</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Which customers has the most purchases?</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What is the most used Payment Method?</a:t>
            </a:r>
          </a:p>
          <a:p>
            <a:pPr algn="l">
              <a:lnSpc>
                <a:spcPts val="2314"/>
              </a:lnSpc>
            </a:pPr>
          </a:p>
          <a:p>
            <a:pPr algn="l" marL="356970" indent="-178485" lvl="1">
              <a:lnSpc>
                <a:spcPts val="2314"/>
              </a:lnSpc>
              <a:buFont typeface="Arial"/>
              <a:buChar char="•"/>
            </a:pPr>
            <a:r>
              <a:rPr lang="en-US" b="true" sz="1653">
                <a:solidFill>
                  <a:srgbClr val="000000"/>
                </a:solidFill>
                <a:latin typeface="Canva Sans Bold"/>
                <a:ea typeface="Canva Sans Bold"/>
                <a:cs typeface="Canva Sans Bold"/>
                <a:sym typeface="Canva Sans Bold"/>
              </a:rPr>
              <a:t>What is the profit margin percentage?</a:t>
            </a:r>
          </a:p>
          <a:p>
            <a:pPr algn="l">
              <a:lnSpc>
                <a:spcPts val="2314"/>
              </a:lnSpc>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bg>
      <p:bgPr>
        <a:solidFill>
          <a:srgbClr val="193EB0"/>
        </a:solidFill>
      </p:bgPr>
    </p:bg>
    <p:spTree>
      <p:nvGrpSpPr>
        <p:cNvPr id="1" name=""/>
        <p:cNvGrpSpPr/>
        <p:nvPr/>
      </p:nvGrpSpPr>
      <p:grpSpPr>
        <a:xfrm>
          <a:off x="0" y="0"/>
          <a:ext cx="0" cy="0"/>
          <a:chOff x="0" y="0"/>
          <a:chExt cx="0" cy="0"/>
        </a:xfrm>
      </p:grpSpPr>
      <p:sp>
        <p:nvSpPr>
          <p:cNvPr name="TextBox 2" id="2"/>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3" id="3"/>
          <p:cNvSpPr txBox="true"/>
          <p:nvPr/>
        </p:nvSpPr>
        <p:spPr>
          <a:xfrm rot="0">
            <a:off x="990607" y="2869575"/>
            <a:ext cx="7008600" cy="68580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Data preparation </a:t>
            </a:r>
          </a:p>
        </p:txBody>
      </p:sp>
      <p:grpSp>
        <p:nvGrpSpPr>
          <p:cNvPr name="Group 4" id="4"/>
          <p:cNvGrpSpPr/>
          <p:nvPr/>
        </p:nvGrpSpPr>
        <p:grpSpPr>
          <a:xfrm rot="5400000">
            <a:off x="-821348" y="3286215"/>
            <a:ext cx="2944980" cy="28575"/>
            <a:chOff x="0" y="0"/>
            <a:chExt cx="3926640" cy="38100"/>
          </a:xfrm>
        </p:grpSpPr>
        <p:sp>
          <p:nvSpPr>
            <p:cNvPr name="Freeform 5" id="5"/>
            <p:cNvSpPr/>
            <p:nvPr/>
          </p:nvSpPr>
          <p:spPr>
            <a:xfrm flipH="false" flipV="false" rot="0">
              <a:off x="0" y="0"/>
              <a:ext cx="3926586" cy="38100"/>
            </a:xfrm>
            <a:custGeom>
              <a:avLst/>
              <a:gdLst/>
              <a:ahLst/>
              <a:cxnLst/>
              <a:rect r="r" b="b" t="t" l="l"/>
              <a:pathLst>
                <a:path h="38100" w="3926586">
                  <a:moveTo>
                    <a:pt x="19050" y="0"/>
                  </a:moveTo>
                  <a:lnTo>
                    <a:pt x="3907536" y="0"/>
                  </a:lnTo>
                  <a:cubicBezTo>
                    <a:pt x="3918077" y="0"/>
                    <a:pt x="3926586" y="8509"/>
                    <a:pt x="3926586" y="19050"/>
                  </a:cubicBezTo>
                  <a:cubicBezTo>
                    <a:pt x="3926586" y="29591"/>
                    <a:pt x="3918077" y="38100"/>
                    <a:pt x="3907536" y="38100"/>
                  </a:cubicBezTo>
                  <a:lnTo>
                    <a:pt x="19050" y="38100"/>
                  </a:lnTo>
                  <a:cubicBezTo>
                    <a:pt x="8509" y="38100"/>
                    <a:pt x="0" y="29591"/>
                    <a:pt x="0" y="19050"/>
                  </a:cubicBezTo>
                  <a:cubicBezTo>
                    <a:pt x="0" y="8509"/>
                    <a:pt x="8509" y="0"/>
                    <a:pt x="19050" y="0"/>
                  </a:cubicBezTo>
                  <a:close/>
                </a:path>
              </a:pathLst>
            </a:custGeom>
            <a:solidFill>
              <a:srgbClr val="FFFFFF"/>
            </a:solidFill>
          </p:spPr>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sp>
        <p:nvSpPr>
          <p:cNvPr name="Freeform 6" id="6"/>
          <p:cNvSpPr/>
          <p:nvPr/>
        </p:nvSpPr>
        <p:spPr>
          <a:xfrm flipH="false" flipV="false" rot="0">
            <a:off x="149113" y="3271579"/>
            <a:ext cx="4365587" cy="2947379"/>
          </a:xfrm>
          <a:custGeom>
            <a:avLst/>
            <a:gdLst/>
            <a:ahLst/>
            <a:cxnLst/>
            <a:rect r="r" b="b" t="t" l="l"/>
            <a:pathLst>
              <a:path h="2947379" w="4365587">
                <a:moveTo>
                  <a:pt x="0" y="0"/>
                </a:moveTo>
                <a:lnTo>
                  <a:pt x="4365587" y="0"/>
                </a:lnTo>
                <a:lnTo>
                  <a:pt x="4365587" y="2947379"/>
                </a:lnTo>
                <a:lnTo>
                  <a:pt x="0" y="2947379"/>
                </a:lnTo>
                <a:lnTo>
                  <a:pt x="0" y="0"/>
                </a:lnTo>
                <a:close/>
              </a:path>
            </a:pathLst>
          </a:custGeom>
          <a:blipFill>
            <a:blip r:embed="rId2"/>
            <a:stretch>
              <a:fillRect l="-5523" t="-171" r="-10135" b="-171"/>
            </a:stretch>
          </a:blipFill>
        </p:spPr>
      </p:sp>
      <p:sp>
        <p:nvSpPr>
          <p:cNvPr name="Freeform 7" id="7"/>
          <p:cNvSpPr/>
          <p:nvPr/>
        </p:nvSpPr>
        <p:spPr>
          <a:xfrm flipH="false" flipV="false" rot="0">
            <a:off x="4956853" y="3262050"/>
            <a:ext cx="4133348" cy="2947379"/>
          </a:xfrm>
          <a:custGeom>
            <a:avLst/>
            <a:gdLst/>
            <a:ahLst/>
            <a:cxnLst/>
            <a:rect r="r" b="b" t="t" l="l"/>
            <a:pathLst>
              <a:path h="2947379" w="4133348">
                <a:moveTo>
                  <a:pt x="0" y="0"/>
                </a:moveTo>
                <a:lnTo>
                  <a:pt x="4133348" y="0"/>
                </a:lnTo>
                <a:lnTo>
                  <a:pt x="4133348" y="2947379"/>
                </a:lnTo>
                <a:lnTo>
                  <a:pt x="0" y="2947379"/>
                </a:lnTo>
                <a:lnTo>
                  <a:pt x="0" y="0"/>
                </a:lnTo>
                <a:close/>
              </a:path>
            </a:pathLst>
          </a:custGeom>
          <a:blipFill>
            <a:blip r:embed="rId3"/>
            <a:stretch>
              <a:fillRect l="-334" t="0" r="-334" b="0"/>
            </a:stretch>
          </a:blipFill>
        </p:spPr>
      </p:sp>
      <p:sp>
        <p:nvSpPr>
          <p:cNvPr name="TextBox 8" id="8"/>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9" id="9"/>
          <p:cNvSpPr txBox="true"/>
          <p:nvPr/>
        </p:nvSpPr>
        <p:spPr>
          <a:xfrm rot="0">
            <a:off x="549285" y="419100"/>
            <a:ext cx="5824200" cy="476250"/>
          </a:xfrm>
          <a:prstGeom prst="rect">
            <a:avLst/>
          </a:prstGeom>
        </p:spPr>
        <p:txBody>
          <a:bodyPr anchor="t" rtlCol="false" tIns="0" lIns="0" bIns="0" rIns="0">
            <a:spAutoFit/>
          </a:bodyPr>
          <a:lstStyle/>
          <a:p>
            <a:pPr algn="l">
              <a:lnSpc>
                <a:spcPts val="3600"/>
              </a:lnSpc>
            </a:pPr>
            <a:r>
              <a:rPr lang="en-US" sz="3000" b="true">
                <a:solidFill>
                  <a:srgbClr val="FFFFFF"/>
                </a:solidFill>
                <a:latin typeface="Arimo Bold"/>
                <a:ea typeface="Arimo Bold"/>
                <a:cs typeface="Arimo Bold"/>
                <a:sym typeface="Arimo Bold"/>
              </a:rPr>
              <a:t>Data Overview</a:t>
            </a:r>
          </a:p>
        </p:txBody>
      </p:sp>
      <p:sp>
        <p:nvSpPr>
          <p:cNvPr name="TextBox 10" id="10"/>
          <p:cNvSpPr txBox="true"/>
          <p:nvPr/>
        </p:nvSpPr>
        <p:spPr>
          <a:xfrm rot="0">
            <a:off x="0" y="1157879"/>
            <a:ext cx="6653354" cy="759879"/>
          </a:xfrm>
          <a:prstGeom prst="rect">
            <a:avLst/>
          </a:prstGeom>
        </p:spPr>
        <p:txBody>
          <a:bodyPr anchor="t" rtlCol="false" tIns="0" lIns="0" bIns="0" rIns="0">
            <a:spAutoFit/>
          </a:bodyPr>
          <a:lstStyle/>
          <a:p>
            <a:pPr algn="l">
              <a:lnSpc>
                <a:spcPts val="3065"/>
              </a:lnSpc>
            </a:pPr>
            <a:r>
              <a:rPr lang="en-US" sz="2189">
                <a:solidFill>
                  <a:srgbClr val="000000"/>
                </a:solidFill>
                <a:latin typeface="Canva Sans"/>
                <a:ea typeface="Canva Sans"/>
                <a:cs typeface="Canva Sans"/>
                <a:sym typeface="Canva Sans"/>
              </a:rPr>
              <a:t>Two primary datasets were used for this analysis</a:t>
            </a:r>
          </a:p>
          <a:p>
            <a:pPr algn="l" marL="0" indent="0" lvl="0">
              <a:lnSpc>
                <a:spcPts val="3065"/>
              </a:lnSpc>
              <a:spcBef>
                <a:spcPct val="0"/>
              </a:spcBef>
            </a:pPr>
          </a:p>
        </p:txBody>
      </p:sp>
      <p:sp>
        <p:nvSpPr>
          <p:cNvPr name="TextBox 11" id="11"/>
          <p:cNvSpPr txBox="true"/>
          <p:nvPr/>
        </p:nvSpPr>
        <p:spPr>
          <a:xfrm rot="0">
            <a:off x="-12700" y="1887837"/>
            <a:ext cx="4527400" cy="763270"/>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a:solidFill>
                  <a:srgbClr val="000000"/>
                </a:solidFill>
                <a:latin typeface="Canva Sans Bold"/>
                <a:ea typeface="Canva Sans Bold"/>
                <a:cs typeface="Canva Sans Bold"/>
                <a:sym typeface="Canva Sans Bold"/>
              </a:rPr>
              <a:t>Details.csv:</a:t>
            </a:r>
            <a:r>
              <a:rPr lang="en-US" sz="2199">
                <a:solidFill>
                  <a:srgbClr val="000000"/>
                </a:solidFill>
                <a:latin typeface="Canva Sans"/>
                <a:ea typeface="Canva Sans"/>
                <a:cs typeface="Canva Sans"/>
                <a:sym typeface="Canva Sans"/>
              </a:rPr>
              <a:t> </a:t>
            </a:r>
          </a:p>
          <a:p>
            <a:pPr algn="l" marL="949959" indent="-316653" lvl="2">
              <a:lnSpc>
                <a:spcPts val="3079"/>
              </a:lnSpc>
              <a:buFont typeface="Arial"/>
              <a:buChar char="⚬"/>
            </a:pPr>
            <a:r>
              <a:rPr lang="en-US" sz="2199">
                <a:solidFill>
                  <a:srgbClr val="000000"/>
                </a:solidFill>
                <a:latin typeface="Canva Sans"/>
                <a:ea typeface="Canva Sans"/>
                <a:cs typeface="Canva Sans"/>
                <a:sym typeface="Canva Sans"/>
              </a:rPr>
              <a:t>contains transactions info</a:t>
            </a:r>
          </a:p>
        </p:txBody>
      </p:sp>
      <p:sp>
        <p:nvSpPr>
          <p:cNvPr name="TextBox 12" id="12"/>
          <p:cNvSpPr txBox="true"/>
          <p:nvPr/>
        </p:nvSpPr>
        <p:spPr>
          <a:xfrm rot="0">
            <a:off x="4956853" y="1828986"/>
            <a:ext cx="3965983" cy="763270"/>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a:solidFill>
                  <a:srgbClr val="000000"/>
                </a:solidFill>
                <a:latin typeface="Canva Sans Bold"/>
                <a:ea typeface="Canva Sans Bold"/>
                <a:cs typeface="Canva Sans Bold"/>
                <a:sym typeface="Canva Sans Bold"/>
              </a:rPr>
              <a:t>Orders.csv: </a:t>
            </a:r>
          </a:p>
          <a:p>
            <a:pPr algn="l" marL="949959" indent="-316653" lvl="2">
              <a:lnSpc>
                <a:spcPts val="3079"/>
              </a:lnSpc>
              <a:buFont typeface="Arial"/>
              <a:buChar char="⚬"/>
            </a:pPr>
            <a:r>
              <a:rPr lang="en-US" sz="2199">
                <a:solidFill>
                  <a:srgbClr val="000000"/>
                </a:solidFill>
                <a:latin typeface="Canva Sans"/>
                <a:ea typeface="Canva Sans"/>
                <a:cs typeface="Canva Sans"/>
                <a:sym typeface="Canva Sans"/>
              </a:rPr>
              <a:t>contains order info</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902857" cy="1623772"/>
            <a:chOff x="0" y="0"/>
            <a:chExt cx="13203810" cy="2165029"/>
          </a:xfrm>
        </p:grpSpPr>
        <p:sp>
          <p:nvSpPr>
            <p:cNvPr name="Freeform 3" id="3"/>
            <p:cNvSpPr/>
            <p:nvPr/>
          </p:nvSpPr>
          <p:spPr>
            <a:xfrm flipH="false" flipV="false" rot="0">
              <a:off x="0" y="0"/>
              <a:ext cx="13203810" cy="2164969"/>
            </a:xfrm>
            <a:custGeom>
              <a:avLst/>
              <a:gdLst/>
              <a:ahLst/>
              <a:cxnLst/>
              <a:rect r="r" b="b" t="t" l="l"/>
              <a:pathLst>
                <a:path h="2164969" w="13203810">
                  <a:moveTo>
                    <a:pt x="0" y="0"/>
                  </a:moveTo>
                  <a:lnTo>
                    <a:pt x="13203810" y="0"/>
                  </a:lnTo>
                  <a:lnTo>
                    <a:pt x="13203810" y="2164969"/>
                  </a:lnTo>
                  <a:lnTo>
                    <a:pt x="0" y="2164969"/>
                  </a:lnTo>
                  <a:close/>
                </a:path>
              </a:pathLst>
            </a:custGeom>
            <a:solidFill>
              <a:srgbClr val="193EB0"/>
            </a:solidFill>
          </p:spPr>
        </p:sp>
      </p:grpSp>
      <p:grpSp>
        <p:nvGrpSpPr>
          <p:cNvPr name="Group 4" id="4"/>
          <p:cNvGrpSpPr/>
          <p:nvPr/>
        </p:nvGrpSpPr>
        <p:grpSpPr>
          <a:xfrm rot="0">
            <a:off x="0" y="2300241"/>
            <a:ext cx="9922192" cy="782763"/>
            <a:chOff x="0" y="0"/>
            <a:chExt cx="13229589" cy="1043684"/>
          </a:xfrm>
        </p:grpSpPr>
        <p:grpSp>
          <p:nvGrpSpPr>
            <p:cNvPr name="Group 5" id="5"/>
            <p:cNvGrpSpPr/>
            <p:nvPr/>
          </p:nvGrpSpPr>
          <p:grpSpPr>
            <a:xfrm rot="0">
              <a:off x="0" y="38218"/>
              <a:ext cx="4208586" cy="1005466"/>
              <a:chOff x="0" y="0"/>
              <a:chExt cx="1246989" cy="297916"/>
            </a:xfrm>
          </p:grpSpPr>
          <p:sp>
            <p:nvSpPr>
              <p:cNvPr name="Freeform 6" id="6"/>
              <p:cNvSpPr/>
              <p:nvPr/>
            </p:nvSpPr>
            <p:spPr>
              <a:xfrm flipH="false" flipV="false" rot="0">
                <a:off x="0" y="0"/>
                <a:ext cx="1246989" cy="297916"/>
              </a:xfrm>
              <a:custGeom>
                <a:avLst/>
                <a:gdLst/>
                <a:ahLst/>
                <a:cxnLst/>
                <a:rect r="r" b="b" t="t" l="l"/>
                <a:pathLst>
                  <a:path h="297916" w="1246989">
                    <a:moveTo>
                      <a:pt x="83393" y="0"/>
                    </a:moveTo>
                    <a:lnTo>
                      <a:pt x="1163595" y="0"/>
                    </a:lnTo>
                    <a:cubicBezTo>
                      <a:pt x="1209652" y="0"/>
                      <a:pt x="1246989" y="37336"/>
                      <a:pt x="1246989" y="83393"/>
                    </a:cubicBezTo>
                    <a:lnTo>
                      <a:pt x="1246989" y="214523"/>
                    </a:lnTo>
                    <a:cubicBezTo>
                      <a:pt x="1246989" y="260580"/>
                      <a:pt x="1209652" y="297916"/>
                      <a:pt x="1163595" y="297916"/>
                    </a:cubicBezTo>
                    <a:lnTo>
                      <a:pt x="83393" y="297916"/>
                    </a:lnTo>
                    <a:cubicBezTo>
                      <a:pt x="61276" y="297916"/>
                      <a:pt x="40065" y="289130"/>
                      <a:pt x="24425" y="273491"/>
                    </a:cubicBezTo>
                    <a:cubicBezTo>
                      <a:pt x="8786" y="257851"/>
                      <a:pt x="0" y="236640"/>
                      <a:pt x="0" y="214523"/>
                    </a:cubicBezTo>
                    <a:lnTo>
                      <a:pt x="0" y="83393"/>
                    </a:lnTo>
                    <a:cubicBezTo>
                      <a:pt x="0" y="37336"/>
                      <a:pt x="37336" y="0"/>
                      <a:pt x="83393" y="0"/>
                    </a:cubicBezTo>
                    <a:close/>
                  </a:path>
                </a:pathLst>
              </a:custGeom>
              <a:solidFill>
                <a:srgbClr val="1A3EB0"/>
              </a:solidFill>
            </p:spPr>
          </p:sp>
          <p:sp>
            <p:nvSpPr>
              <p:cNvPr name="TextBox 7" id="7"/>
              <p:cNvSpPr txBox="true"/>
              <p:nvPr/>
            </p:nvSpPr>
            <p:spPr>
              <a:xfrm>
                <a:off x="0" y="-28575"/>
                <a:ext cx="1246989" cy="326491"/>
              </a:xfrm>
              <a:prstGeom prst="rect">
                <a:avLst/>
              </a:prstGeom>
            </p:spPr>
            <p:txBody>
              <a:bodyPr anchor="ctr" rtlCol="false" tIns="50800" lIns="50800" bIns="50800" rIns="50800"/>
              <a:lstStyle/>
              <a:p>
                <a:pPr algn="ctr">
                  <a:lnSpc>
                    <a:spcPts val="1559"/>
                  </a:lnSpc>
                </a:pPr>
              </a:p>
            </p:txBody>
          </p:sp>
        </p:grpSp>
        <p:grpSp>
          <p:nvGrpSpPr>
            <p:cNvPr name="Group 8" id="8"/>
            <p:cNvGrpSpPr/>
            <p:nvPr/>
          </p:nvGrpSpPr>
          <p:grpSpPr>
            <a:xfrm rot="0">
              <a:off x="8899393" y="38218"/>
              <a:ext cx="4330196" cy="1005466"/>
              <a:chOff x="0" y="0"/>
              <a:chExt cx="1283021" cy="297916"/>
            </a:xfrm>
          </p:grpSpPr>
          <p:sp>
            <p:nvSpPr>
              <p:cNvPr name="Freeform 9" id="9"/>
              <p:cNvSpPr/>
              <p:nvPr/>
            </p:nvSpPr>
            <p:spPr>
              <a:xfrm flipH="false" flipV="false" rot="0">
                <a:off x="0" y="0"/>
                <a:ext cx="1283021" cy="297916"/>
              </a:xfrm>
              <a:custGeom>
                <a:avLst/>
                <a:gdLst/>
                <a:ahLst/>
                <a:cxnLst/>
                <a:rect r="r" b="b" t="t" l="l"/>
                <a:pathLst>
                  <a:path h="297916" w="1283021">
                    <a:moveTo>
                      <a:pt x="81051" y="0"/>
                    </a:moveTo>
                    <a:lnTo>
                      <a:pt x="1201970" y="0"/>
                    </a:lnTo>
                    <a:cubicBezTo>
                      <a:pt x="1246733" y="0"/>
                      <a:pt x="1283021" y="36288"/>
                      <a:pt x="1283021" y="81051"/>
                    </a:cubicBezTo>
                    <a:lnTo>
                      <a:pt x="1283021" y="216865"/>
                    </a:lnTo>
                    <a:cubicBezTo>
                      <a:pt x="1283021" y="261628"/>
                      <a:pt x="1246733" y="297916"/>
                      <a:pt x="1201970" y="297916"/>
                    </a:cubicBezTo>
                    <a:lnTo>
                      <a:pt x="81051" y="297916"/>
                    </a:lnTo>
                    <a:cubicBezTo>
                      <a:pt x="36288" y="297916"/>
                      <a:pt x="0" y="261628"/>
                      <a:pt x="0" y="216865"/>
                    </a:cubicBezTo>
                    <a:lnTo>
                      <a:pt x="0" y="81051"/>
                    </a:lnTo>
                    <a:cubicBezTo>
                      <a:pt x="0" y="36288"/>
                      <a:pt x="36288" y="0"/>
                      <a:pt x="81051" y="0"/>
                    </a:cubicBezTo>
                    <a:close/>
                  </a:path>
                </a:pathLst>
              </a:custGeom>
              <a:solidFill>
                <a:srgbClr val="193EB0"/>
              </a:solidFill>
            </p:spPr>
          </p:sp>
          <p:sp>
            <p:nvSpPr>
              <p:cNvPr name="TextBox 10" id="10"/>
              <p:cNvSpPr txBox="true"/>
              <p:nvPr/>
            </p:nvSpPr>
            <p:spPr>
              <a:xfrm>
                <a:off x="0" y="-28575"/>
                <a:ext cx="1283021" cy="326491"/>
              </a:xfrm>
              <a:prstGeom prst="rect">
                <a:avLst/>
              </a:prstGeom>
            </p:spPr>
            <p:txBody>
              <a:bodyPr anchor="ctr" rtlCol="false" tIns="50800" lIns="50800" bIns="50800" rIns="50800"/>
              <a:lstStyle/>
              <a:p>
                <a:pPr algn="ctr">
                  <a:lnSpc>
                    <a:spcPts val="1559"/>
                  </a:lnSpc>
                </a:pPr>
              </a:p>
            </p:txBody>
          </p:sp>
        </p:grpSp>
        <p:grpSp>
          <p:nvGrpSpPr>
            <p:cNvPr name="Group 11" id="11"/>
            <p:cNvGrpSpPr/>
            <p:nvPr/>
          </p:nvGrpSpPr>
          <p:grpSpPr>
            <a:xfrm rot="0">
              <a:off x="4462586" y="0"/>
              <a:ext cx="4208586" cy="1005466"/>
              <a:chOff x="0" y="0"/>
              <a:chExt cx="1246989" cy="297916"/>
            </a:xfrm>
          </p:grpSpPr>
          <p:sp>
            <p:nvSpPr>
              <p:cNvPr name="Freeform 12" id="12"/>
              <p:cNvSpPr/>
              <p:nvPr/>
            </p:nvSpPr>
            <p:spPr>
              <a:xfrm flipH="false" flipV="false" rot="0">
                <a:off x="0" y="0"/>
                <a:ext cx="1246989" cy="297916"/>
              </a:xfrm>
              <a:custGeom>
                <a:avLst/>
                <a:gdLst/>
                <a:ahLst/>
                <a:cxnLst/>
                <a:rect r="r" b="b" t="t" l="l"/>
                <a:pathLst>
                  <a:path h="297916" w="1246989">
                    <a:moveTo>
                      <a:pt x="83393" y="0"/>
                    </a:moveTo>
                    <a:lnTo>
                      <a:pt x="1163595" y="0"/>
                    </a:lnTo>
                    <a:cubicBezTo>
                      <a:pt x="1209652" y="0"/>
                      <a:pt x="1246989" y="37336"/>
                      <a:pt x="1246989" y="83393"/>
                    </a:cubicBezTo>
                    <a:lnTo>
                      <a:pt x="1246989" y="214523"/>
                    </a:lnTo>
                    <a:cubicBezTo>
                      <a:pt x="1246989" y="260580"/>
                      <a:pt x="1209652" y="297916"/>
                      <a:pt x="1163595" y="297916"/>
                    </a:cubicBezTo>
                    <a:lnTo>
                      <a:pt x="83393" y="297916"/>
                    </a:lnTo>
                    <a:cubicBezTo>
                      <a:pt x="61276" y="297916"/>
                      <a:pt x="40065" y="289130"/>
                      <a:pt x="24425" y="273491"/>
                    </a:cubicBezTo>
                    <a:cubicBezTo>
                      <a:pt x="8786" y="257851"/>
                      <a:pt x="0" y="236640"/>
                      <a:pt x="0" y="214523"/>
                    </a:cubicBezTo>
                    <a:lnTo>
                      <a:pt x="0" y="83393"/>
                    </a:lnTo>
                    <a:cubicBezTo>
                      <a:pt x="0" y="37336"/>
                      <a:pt x="37336" y="0"/>
                      <a:pt x="83393" y="0"/>
                    </a:cubicBezTo>
                    <a:close/>
                  </a:path>
                </a:pathLst>
              </a:custGeom>
              <a:solidFill>
                <a:srgbClr val="1A3EB0"/>
              </a:solidFill>
            </p:spPr>
          </p:sp>
          <p:sp>
            <p:nvSpPr>
              <p:cNvPr name="TextBox 13" id="13"/>
              <p:cNvSpPr txBox="true"/>
              <p:nvPr/>
            </p:nvSpPr>
            <p:spPr>
              <a:xfrm>
                <a:off x="0" y="-28575"/>
                <a:ext cx="1246989" cy="326491"/>
              </a:xfrm>
              <a:prstGeom prst="rect">
                <a:avLst/>
              </a:prstGeom>
            </p:spPr>
            <p:txBody>
              <a:bodyPr anchor="ctr" rtlCol="false" tIns="50800" lIns="50800" bIns="50800" rIns="50800"/>
              <a:lstStyle/>
              <a:p>
                <a:pPr algn="ctr">
                  <a:lnSpc>
                    <a:spcPts val="1559"/>
                  </a:lnSpc>
                </a:pPr>
              </a:p>
            </p:txBody>
          </p:sp>
        </p:grpSp>
        <p:sp>
          <p:nvSpPr>
            <p:cNvPr name="TextBox 14" id="14"/>
            <p:cNvSpPr txBox="true"/>
            <p:nvPr/>
          </p:nvSpPr>
          <p:spPr>
            <a:xfrm rot="0">
              <a:off x="125060" y="241536"/>
              <a:ext cx="4010025" cy="484293"/>
            </a:xfrm>
            <a:prstGeom prst="rect">
              <a:avLst/>
            </a:prstGeom>
          </p:spPr>
          <p:txBody>
            <a:bodyPr anchor="t" rtlCol="false" tIns="0" lIns="0" bIns="0" rIns="0">
              <a:spAutoFit/>
            </a:bodyPr>
            <a:lstStyle/>
            <a:p>
              <a:pPr algn="ctr">
                <a:lnSpc>
                  <a:spcPts val="3079"/>
                </a:lnSpc>
              </a:pPr>
              <a:r>
                <a:rPr lang="en-US" sz="2199">
                  <a:solidFill>
                    <a:srgbClr val="FFFFFF"/>
                  </a:solidFill>
                  <a:latin typeface="Canva Sans"/>
                  <a:ea typeface="Canva Sans"/>
                  <a:cs typeface="Canva Sans"/>
                  <a:sym typeface="Canva Sans"/>
                </a:rPr>
                <a:t>No missing data found</a:t>
              </a:r>
            </a:p>
          </p:txBody>
        </p:sp>
        <p:sp>
          <p:nvSpPr>
            <p:cNvPr name="TextBox 15" id="15"/>
            <p:cNvSpPr txBox="true"/>
            <p:nvPr/>
          </p:nvSpPr>
          <p:spPr>
            <a:xfrm rot="0">
              <a:off x="9012105" y="241536"/>
              <a:ext cx="4152636" cy="484293"/>
            </a:xfrm>
            <a:prstGeom prst="rect">
              <a:avLst/>
            </a:prstGeom>
          </p:spPr>
          <p:txBody>
            <a:bodyPr anchor="t" rtlCol="false" tIns="0" lIns="0" bIns="0" rIns="0">
              <a:spAutoFit/>
            </a:bodyPr>
            <a:lstStyle/>
            <a:p>
              <a:pPr algn="ctr">
                <a:lnSpc>
                  <a:spcPts val="3079"/>
                </a:lnSpc>
              </a:pPr>
              <a:r>
                <a:rPr lang="en-US" sz="2199">
                  <a:solidFill>
                    <a:srgbClr val="FFFFFF"/>
                  </a:solidFill>
                  <a:latin typeface="Canva Sans"/>
                  <a:ea typeface="Canva Sans"/>
                  <a:cs typeface="Canva Sans"/>
                  <a:sym typeface="Canva Sans"/>
                </a:rPr>
                <a:t>Data format standrized</a:t>
              </a:r>
            </a:p>
          </p:txBody>
        </p:sp>
        <p:sp>
          <p:nvSpPr>
            <p:cNvPr name="TextBox 16" id="16"/>
            <p:cNvSpPr txBox="true"/>
            <p:nvPr/>
          </p:nvSpPr>
          <p:spPr>
            <a:xfrm rot="0">
              <a:off x="4794864" y="279754"/>
              <a:ext cx="3854583" cy="484293"/>
            </a:xfrm>
            <a:prstGeom prst="rect">
              <a:avLst/>
            </a:prstGeom>
          </p:spPr>
          <p:txBody>
            <a:bodyPr anchor="t" rtlCol="false" tIns="0" lIns="0" bIns="0" rIns="0">
              <a:spAutoFit/>
            </a:bodyPr>
            <a:lstStyle/>
            <a:p>
              <a:pPr algn="ctr">
                <a:lnSpc>
                  <a:spcPts val="3079"/>
                </a:lnSpc>
              </a:pPr>
              <a:r>
                <a:rPr lang="en-US" sz="2199">
                  <a:solidFill>
                    <a:srgbClr val="FFFFFF"/>
                  </a:solidFill>
                  <a:latin typeface="Canva Sans"/>
                  <a:ea typeface="Canva Sans"/>
                  <a:cs typeface="Canva Sans"/>
                  <a:sym typeface="Canva Sans"/>
                </a:rPr>
                <a:t>No dublicate records </a:t>
              </a:r>
            </a:p>
          </p:txBody>
        </p:sp>
      </p:grpSp>
      <p:sp>
        <p:nvSpPr>
          <p:cNvPr name="Freeform 17" id="17"/>
          <p:cNvSpPr/>
          <p:nvPr/>
        </p:nvSpPr>
        <p:spPr>
          <a:xfrm flipH="false" flipV="false" rot="0">
            <a:off x="6388226" y="3758203"/>
            <a:ext cx="3028375" cy="3036603"/>
          </a:xfrm>
          <a:custGeom>
            <a:avLst/>
            <a:gdLst/>
            <a:ahLst/>
            <a:cxnLst/>
            <a:rect r="r" b="b" t="t" l="l"/>
            <a:pathLst>
              <a:path h="3036603" w="3028375">
                <a:moveTo>
                  <a:pt x="0" y="0"/>
                </a:moveTo>
                <a:lnTo>
                  <a:pt x="3028376" y="0"/>
                </a:lnTo>
                <a:lnTo>
                  <a:pt x="3028376" y="3036603"/>
                </a:lnTo>
                <a:lnTo>
                  <a:pt x="0" y="3036603"/>
                </a:lnTo>
                <a:lnTo>
                  <a:pt x="0" y="0"/>
                </a:lnTo>
                <a:close/>
              </a:path>
            </a:pathLst>
          </a:custGeom>
          <a:blipFill>
            <a:blip r:embed="rId3"/>
            <a:stretch>
              <a:fillRect l="-355" t="0" r="-355" b="-33280"/>
            </a:stretch>
          </a:blipFill>
        </p:spPr>
      </p:sp>
      <p:sp>
        <p:nvSpPr>
          <p:cNvPr name="TextBox 18" id="18"/>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19" id="19"/>
          <p:cNvSpPr txBox="true"/>
          <p:nvPr/>
        </p:nvSpPr>
        <p:spPr>
          <a:xfrm rot="0">
            <a:off x="361537" y="511845"/>
            <a:ext cx="7540877" cy="514350"/>
          </a:xfrm>
          <a:prstGeom prst="rect">
            <a:avLst/>
          </a:prstGeom>
        </p:spPr>
        <p:txBody>
          <a:bodyPr anchor="t" rtlCol="false" tIns="0" lIns="0" bIns="0" rIns="0">
            <a:spAutoFit/>
          </a:bodyPr>
          <a:lstStyle/>
          <a:p>
            <a:pPr algn="l">
              <a:lnSpc>
                <a:spcPts val="3840"/>
              </a:lnSpc>
            </a:pPr>
            <a:r>
              <a:rPr lang="en-US" sz="3200">
                <a:solidFill>
                  <a:srgbClr val="FFFFFF"/>
                </a:solidFill>
                <a:latin typeface="Arimo"/>
                <a:ea typeface="Arimo"/>
                <a:cs typeface="Arimo"/>
                <a:sym typeface="Arimo"/>
              </a:rPr>
              <a:t>Data preprocessing</a:t>
            </a:r>
          </a:p>
        </p:txBody>
      </p:sp>
      <p:sp>
        <p:nvSpPr>
          <p:cNvPr name="TextBox 20" id="20"/>
          <p:cNvSpPr txBox="true"/>
          <p:nvPr/>
        </p:nvSpPr>
        <p:spPr>
          <a:xfrm rot="0">
            <a:off x="447184" y="1756046"/>
            <a:ext cx="905354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Checked the two csv’s</a:t>
            </a:r>
          </a:p>
        </p:txBody>
      </p:sp>
      <p:sp>
        <p:nvSpPr>
          <p:cNvPr name="TextBox 21" id="21"/>
          <p:cNvSpPr txBox="true"/>
          <p:nvPr/>
        </p:nvSpPr>
        <p:spPr>
          <a:xfrm rot="0">
            <a:off x="0" y="3275810"/>
            <a:ext cx="9896475" cy="763270"/>
          </a:xfrm>
          <a:prstGeom prst="rect">
            <a:avLst/>
          </a:prstGeom>
        </p:spPr>
        <p:txBody>
          <a:bodyPr anchor="t" rtlCol="false" tIns="0" lIns="0" bIns="0" rIns="0">
            <a:spAutoFit/>
          </a:bodyPr>
          <a:lstStyle/>
          <a:p>
            <a:pPr algn="l">
              <a:lnSpc>
                <a:spcPts val="3079"/>
              </a:lnSpc>
            </a:pPr>
            <a:r>
              <a:rPr lang="en-US" sz="2199">
                <a:solidFill>
                  <a:srgbClr val="000000"/>
                </a:solidFill>
                <a:latin typeface="Canva Sans"/>
                <a:ea typeface="Canva Sans"/>
                <a:cs typeface="Canva Sans"/>
                <a:sym typeface="Canva Sans"/>
              </a:rPr>
              <a:t>Merge</a:t>
            </a:r>
            <a:r>
              <a:rPr lang="en-US" sz="2199">
                <a:solidFill>
                  <a:srgbClr val="000000"/>
                </a:solidFill>
                <a:latin typeface="Canva Sans"/>
                <a:ea typeface="Canva Sans"/>
                <a:cs typeface="Canva Sans"/>
                <a:sym typeface="Canva Sans"/>
              </a:rPr>
              <a:t>d Details.csv &amp; Orders.csv into cleaned_online_sales_data.csv by the unique Order ID in both cvs’s</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p:cSld>
    <p:bg>
      <p:bgPr>
        <a:solidFill>
          <a:srgbClr val="193EB0"/>
        </a:solidFill>
      </p:bgPr>
    </p:bg>
    <p:spTree>
      <p:nvGrpSpPr>
        <p:cNvPr id="1" name=""/>
        <p:cNvGrpSpPr/>
        <p:nvPr/>
      </p:nvGrpSpPr>
      <p:grpSpPr>
        <a:xfrm>
          <a:off x="0" y="0"/>
          <a:ext cx="0" cy="0"/>
          <a:chOff x="0" y="0"/>
          <a:chExt cx="0" cy="0"/>
        </a:xfrm>
      </p:grpSpPr>
      <p:sp>
        <p:nvSpPr>
          <p:cNvPr name="TextBox 2" id="2"/>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3" id="3"/>
          <p:cNvSpPr txBox="true"/>
          <p:nvPr/>
        </p:nvSpPr>
        <p:spPr>
          <a:xfrm rot="0">
            <a:off x="990607" y="2869575"/>
            <a:ext cx="7008600" cy="68580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E.D.A</a:t>
            </a:r>
          </a:p>
        </p:txBody>
      </p:sp>
      <p:grpSp>
        <p:nvGrpSpPr>
          <p:cNvPr name="Group 4" id="4"/>
          <p:cNvGrpSpPr/>
          <p:nvPr/>
        </p:nvGrpSpPr>
        <p:grpSpPr>
          <a:xfrm rot="5400000">
            <a:off x="-821348" y="3286215"/>
            <a:ext cx="2944980" cy="28575"/>
            <a:chOff x="0" y="0"/>
            <a:chExt cx="3926640" cy="38100"/>
          </a:xfrm>
        </p:grpSpPr>
        <p:sp>
          <p:nvSpPr>
            <p:cNvPr name="Freeform 5" id="5"/>
            <p:cNvSpPr/>
            <p:nvPr/>
          </p:nvSpPr>
          <p:spPr>
            <a:xfrm flipH="false" flipV="false" rot="0">
              <a:off x="0" y="0"/>
              <a:ext cx="3926586" cy="38100"/>
            </a:xfrm>
            <a:custGeom>
              <a:avLst/>
              <a:gdLst/>
              <a:ahLst/>
              <a:cxnLst/>
              <a:rect r="r" b="b" t="t" l="l"/>
              <a:pathLst>
                <a:path h="38100" w="3926586">
                  <a:moveTo>
                    <a:pt x="19050" y="0"/>
                  </a:moveTo>
                  <a:lnTo>
                    <a:pt x="3907536" y="0"/>
                  </a:lnTo>
                  <a:cubicBezTo>
                    <a:pt x="3918077" y="0"/>
                    <a:pt x="3926586" y="8509"/>
                    <a:pt x="3926586" y="19050"/>
                  </a:cubicBezTo>
                  <a:cubicBezTo>
                    <a:pt x="3926586" y="29591"/>
                    <a:pt x="3918077" y="38100"/>
                    <a:pt x="3907536" y="38100"/>
                  </a:cubicBezTo>
                  <a:lnTo>
                    <a:pt x="19050" y="38100"/>
                  </a:lnTo>
                  <a:cubicBezTo>
                    <a:pt x="8509" y="38100"/>
                    <a:pt x="0" y="29591"/>
                    <a:pt x="0" y="19050"/>
                  </a:cubicBezTo>
                  <a:cubicBezTo>
                    <a:pt x="0" y="8509"/>
                    <a:pt x="8509" y="0"/>
                    <a:pt x="19050" y="0"/>
                  </a:cubicBezTo>
                  <a:close/>
                </a:path>
              </a:pathLst>
            </a:custGeom>
            <a:solidFill>
              <a:srgbClr val="FFFFFF"/>
            </a:solidFill>
          </p:spPr>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grpSp>
        <p:nvGrpSpPr>
          <p:cNvPr name="Group 6" id="6"/>
          <p:cNvGrpSpPr/>
          <p:nvPr/>
        </p:nvGrpSpPr>
        <p:grpSpPr>
          <a:xfrm rot="0">
            <a:off x="109386" y="1306378"/>
            <a:ext cx="2303299" cy="1172018"/>
            <a:chOff x="0" y="0"/>
            <a:chExt cx="909945" cy="463020"/>
          </a:xfrm>
        </p:grpSpPr>
        <p:sp>
          <p:nvSpPr>
            <p:cNvPr name="Freeform 7" id="7"/>
            <p:cNvSpPr/>
            <p:nvPr/>
          </p:nvSpPr>
          <p:spPr>
            <a:xfrm flipH="false" flipV="false" rot="0">
              <a:off x="0" y="0"/>
              <a:ext cx="909945" cy="463020"/>
            </a:xfrm>
            <a:custGeom>
              <a:avLst/>
              <a:gdLst/>
              <a:ahLst/>
              <a:cxnLst/>
              <a:rect r="r" b="b" t="t" l="l"/>
              <a:pathLst>
                <a:path h="463020" w="909945">
                  <a:moveTo>
                    <a:pt x="114282" y="0"/>
                  </a:moveTo>
                  <a:lnTo>
                    <a:pt x="795663" y="0"/>
                  </a:lnTo>
                  <a:cubicBezTo>
                    <a:pt x="825973" y="0"/>
                    <a:pt x="855041" y="12040"/>
                    <a:pt x="876473" y="33472"/>
                  </a:cubicBezTo>
                  <a:cubicBezTo>
                    <a:pt x="897905" y="54904"/>
                    <a:pt x="909945" y="83972"/>
                    <a:pt x="909945" y="114282"/>
                  </a:cubicBezTo>
                  <a:lnTo>
                    <a:pt x="909945" y="348738"/>
                  </a:lnTo>
                  <a:cubicBezTo>
                    <a:pt x="909945" y="379047"/>
                    <a:pt x="897905" y="408115"/>
                    <a:pt x="876473" y="429547"/>
                  </a:cubicBezTo>
                  <a:cubicBezTo>
                    <a:pt x="855041" y="450979"/>
                    <a:pt x="825973" y="463020"/>
                    <a:pt x="795663" y="463020"/>
                  </a:cubicBezTo>
                  <a:lnTo>
                    <a:pt x="114282" y="463020"/>
                  </a:lnTo>
                  <a:cubicBezTo>
                    <a:pt x="83972" y="463020"/>
                    <a:pt x="54904" y="450979"/>
                    <a:pt x="33472" y="429547"/>
                  </a:cubicBezTo>
                  <a:cubicBezTo>
                    <a:pt x="12040" y="408115"/>
                    <a:pt x="0" y="379047"/>
                    <a:pt x="0" y="348738"/>
                  </a:cubicBezTo>
                  <a:lnTo>
                    <a:pt x="0" y="114282"/>
                  </a:lnTo>
                  <a:cubicBezTo>
                    <a:pt x="0" y="83972"/>
                    <a:pt x="12040" y="54904"/>
                    <a:pt x="33472" y="33472"/>
                  </a:cubicBezTo>
                  <a:cubicBezTo>
                    <a:pt x="54904" y="12040"/>
                    <a:pt x="83972" y="0"/>
                    <a:pt x="114282" y="0"/>
                  </a:cubicBezTo>
                  <a:close/>
                </a:path>
              </a:pathLst>
            </a:custGeom>
            <a:solidFill>
              <a:srgbClr val="1A3EB0"/>
            </a:solidFill>
          </p:spPr>
        </p:sp>
        <p:sp>
          <p:nvSpPr>
            <p:cNvPr name="TextBox 8" id="8"/>
            <p:cNvSpPr txBox="true"/>
            <p:nvPr/>
          </p:nvSpPr>
          <p:spPr>
            <a:xfrm>
              <a:off x="0" y="-28575"/>
              <a:ext cx="909945" cy="491595"/>
            </a:xfrm>
            <a:prstGeom prst="rect">
              <a:avLst/>
            </a:prstGeom>
          </p:spPr>
          <p:txBody>
            <a:bodyPr anchor="ctr" rtlCol="false" tIns="50800" lIns="50800" bIns="50800" rIns="50800"/>
            <a:lstStyle/>
            <a:p>
              <a:pPr algn="ctr">
                <a:lnSpc>
                  <a:spcPts val="1559"/>
                </a:lnSpc>
              </a:pPr>
            </a:p>
            <a:p>
              <a:pPr algn="ctr">
                <a:lnSpc>
                  <a:spcPts val="1919"/>
                </a:lnSpc>
              </a:pPr>
            </a:p>
            <a:p>
              <a:pPr algn="ctr">
                <a:lnSpc>
                  <a:spcPts val="1919"/>
                </a:lnSpc>
              </a:pPr>
              <a:r>
                <a:rPr lang="en-US" b="true" sz="1599">
                  <a:solidFill>
                    <a:srgbClr val="FFFFFF"/>
                  </a:solidFill>
                  <a:latin typeface="Arial Bold"/>
                  <a:ea typeface="Arial Bold"/>
                  <a:cs typeface="Arial Bold"/>
                  <a:sym typeface="Arial Bold"/>
                </a:rPr>
                <a:t>₹291.85</a:t>
              </a:r>
            </a:p>
          </p:txBody>
        </p:sp>
      </p:grpSp>
      <p:sp>
        <p:nvSpPr>
          <p:cNvPr name="TextBox 9" id="9"/>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10" id="10"/>
          <p:cNvSpPr txBox="true"/>
          <p:nvPr/>
        </p:nvSpPr>
        <p:spPr>
          <a:xfrm rot="0">
            <a:off x="564918" y="222427"/>
            <a:ext cx="8060986" cy="552450"/>
          </a:xfrm>
          <a:prstGeom prst="rect">
            <a:avLst/>
          </a:prstGeom>
        </p:spPr>
        <p:txBody>
          <a:bodyPr anchor="t" rtlCol="false" tIns="0" lIns="0" bIns="0" rIns="0">
            <a:spAutoFit/>
          </a:bodyPr>
          <a:lstStyle/>
          <a:p>
            <a:pPr algn="l">
              <a:lnSpc>
                <a:spcPts val="3840"/>
              </a:lnSpc>
            </a:pPr>
            <a:r>
              <a:rPr lang="en-US" sz="3200">
                <a:solidFill>
                  <a:srgbClr val="FFFFFF"/>
                </a:solidFill>
                <a:latin typeface="Arial"/>
                <a:ea typeface="Arial"/>
                <a:cs typeface="Arial"/>
                <a:sym typeface="Arial"/>
              </a:rPr>
              <a:t>Statistical insights</a:t>
            </a:r>
          </a:p>
        </p:txBody>
      </p:sp>
      <p:sp>
        <p:nvSpPr>
          <p:cNvPr name="TextBox 11" id="11"/>
          <p:cNvSpPr txBox="true"/>
          <p:nvPr/>
        </p:nvSpPr>
        <p:spPr>
          <a:xfrm rot="0">
            <a:off x="192785" y="3866093"/>
            <a:ext cx="5167437" cy="2352866"/>
          </a:xfrm>
          <a:prstGeom prst="rect">
            <a:avLst/>
          </a:prstGeom>
        </p:spPr>
        <p:txBody>
          <a:bodyPr anchor="t" rtlCol="false" tIns="0" lIns="0" bIns="0" rIns="0">
            <a:spAutoFit/>
          </a:bodyPr>
          <a:lstStyle/>
          <a:p>
            <a:pPr algn="l">
              <a:lnSpc>
                <a:spcPts val="2823"/>
              </a:lnSpc>
            </a:pPr>
            <a:r>
              <a:rPr lang="en-US" sz="2354">
                <a:solidFill>
                  <a:srgbClr val="000000"/>
                </a:solidFill>
                <a:latin typeface="Arial"/>
                <a:ea typeface="Arial"/>
                <a:cs typeface="Arial"/>
                <a:sym typeface="Arial"/>
              </a:rPr>
              <a:t>Key Insights:</a:t>
            </a:r>
          </a:p>
          <a:p>
            <a:pPr algn="l" marL="388620" indent="-194310" lvl="1">
              <a:lnSpc>
                <a:spcPts val="2158"/>
              </a:lnSpc>
              <a:buFont typeface="Arial"/>
              <a:buChar char="•"/>
            </a:pPr>
            <a:r>
              <a:rPr lang="en-US" sz="1800">
                <a:solidFill>
                  <a:srgbClr val="000000"/>
                </a:solidFill>
                <a:latin typeface="Arial"/>
                <a:ea typeface="Arial"/>
                <a:cs typeface="Arial"/>
                <a:sym typeface="Arial"/>
              </a:rPr>
              <a:t>High variability in profit</a:t>
            </a:r>
          </a:p>
          <a:p>
            <a:pPr algn="l" marL="388620" indent="-194310" lvl="1">
              <a:lnSpc>
                <a:spcPts val="2158"/>
              </a:lnSpc>
              <a:buFont typeface="Arial"/>
              <a:buChar char="•"/>
            </a:pPr>
            <a:r>
              <a:rPr lang="en-US" sz="1800">
                <a:solidFill>
                  <a:srgbClr val="000000"/>
                </a:solidFill>
                <a:latin typeface="Arial"/>
                <a:ea typeface="Arial"/>
                <a:cs typeface="Arial"/>
                <a:sym typeface="Arial"/>
              </a:rPr>
              <a:t>Significant number of transactions with negative profit</a:t>
            </a:r>
          </a:p>
          <a:p>
            <a:pPr algn="l" marL="388620" indent="-194310" lvl="1">
              <a:lnSpc>
                <a:spcPts val="2158"/>
              </a:lnSpc>
              <a:buFont typeface="Arial"/>
              <a:buChar char="•"/>
            </a:pPr>
            <a:r>
              <a:rPr lang="en-US" sz="1800">
                <a:solidFill>
                  <a:srgbClr val="000000"/>
                </a:solidFill>
                <a:latin typeface="Arial"/>
                <a:ea typeface="Arial"/>
                <a:cs typeface="Arial"/>
                <a:sym typeface="Arial"/>
              </a:rPr>
              <a:t>Median profit (₹8) much lower than mean profit (₹24.64), indicating skewed distribution</a:t>
            </a:r>
          </a:p>
          <a:p>
            <a:pPr algn="l" marL="388620" indent="-194310" lvl="1">
              <a:lnSpc>
                <a:spcPts val="2158"/>
              </a:lnSpc>
              <a:buFont typeface="Arial"/>
              <a:buChar char="•"/>
            </a:pPr>
            <a:r>
              <a:rPr lang="en-US" sz="1800">
                <a:solidFill>
                  <a:srgbClr val="000000"/>
                </a:solidFill>
                <a:latin typeface="Arial"/>
                <a:ea typeface="Arial"/>
                <a:cs typeface="Arial"/>
                <a:sym typeface="Arial"/>
              </a:rPr>
              <a:t>Quantity per order ranges from 1 to 14 items</a:t>
            </a:r>
          </a:p>
          <a:p>
            <a:pPr algn="l">
              <a:lnSpc>
                <a:spcPts val="2825"/>
              </a:lnSpc>
            </a:pPr>
            <a:r>
              <a:rPr lang="en-US" sz="2354">
                <a:solidFill>
                  <a:srgbClr val="000000"/>
                </a:solidFill>
                <a:latin typeface="Arial"/>
                <a:ea typeface="Arial"/>
                <a:cs typeface="Arial"/>
                <a:sym typeface="Arial"/>
              </a:rPr>
              <a:t> </a:t>
            </a:r>
          </a:p>
        </p:txBody>
      </p:sp>
      <p:sp>
        <p:nvSpPr>
          <p:cNvPr name="TextBox 12" id="12"/>
          <p:cNvSpPr txBox="true"/>
          <p:nvPr/>
        </p:nvSpPr>
        <p:spPr>
          <a:xfrm rot="0">
            <a:off x="232336" y="1476777"/>
            <a:ext cx="2057400" cy="257175"/>
          </a:xfrm>
          <a:prstGeom prst="rect">
            <a:avLst/>
          </a:prstGeom>
        </p:spPr>
        <p:txBody>
          <a:bodyPr anchor="t" rtlCol="false" tIns="0" lIns="0" bIns="0" rIns="0">
            <a:spAutoFit/>
          </a:bodyPr>
          <a:lstStyle/>
          <a:p>
            <a:pPr algn="ctr">
              <a:lnSpc>
                <a:spcPts val="2100"/>
              </a:lnSpc>
            </a:pPr>
            <a:r>
              <a:rPr lang="en-US" sz="1500">
                <a:solidFill>
                  <a:srgbClr val="FFFFFF"/>
                </a:solidFill>
                <a:latin typeface="Canva Sans"/>
                <a:ea typeface="Canva Sans"/>
                <a:cs typeface="Canva Sans"/>
                <a:sym typeface="Canva Sans"/>
              </a:rPr>
              <a:t>Average order amount</a:t>
            </a:r>
          </a:p>
        </p:txBody>
      </p:sp>
      <p:grpSp>
        <p:nvGrpSpPr>
          <p:cNvPr name="Group 13" id="13"/>
          <p:cNvGrpSpPr/>
          <p:nvPr/>
        </p:nvGrpSpPr>
        <p:grpSpPr>
          <a:xfrm rot="0">
            <a:off x="109386" y="2583171"/>
            <a:ext cx="2303299" cy="1172018"/>
            <a:chOff x="0" y="0"/>
            <a:chExt cx="909945" cy="463020"/>
          </a:xfrm>
        </p:grpSpPr>
        <p:sp>
          <p:nvSpPr>
            <p:cNvPr name="Freeform 14" id="14"/>
            <p:cNvSpPr/>
            <p:nvPr/>
          </p:nvSpPr>
          <p:spPr>
            <a:xfrm flipH="false" flipV="false" rot="0">
              <a:off x="0" y="0"/>
              <a:ext cx="909945" cy="463020"/>
            </a:xfrm>
            <a:custGeom>
              <a:avLst/>
              <a:gdLst/>
              <a:ahLst/>
              <a:cxnLst/>
              <a:rect r="r" b="b" t="t" l="l"/>
              <a:pathLst>
                <a:path h="463020" w="909945">
                  <a:moveTo>
                    <a:pt x="114282" y="0"/>
                  </a:moveTo>
                  <a:lnTo>
                    <a:pt x="795663" y="0"/>
                  </a:lnTo>
                  <a:cubicBezTo>
                    <a:pt x="825973" y="0"/>
                    <a:pt x="855041" y="12040"/>
                    <a:pt x="876473" y="33472"/>
                  </a:cubicBezTo>
                  <a:cubicBezTo>
                    <a:pt x="897905" y="54904"/>
                    <a:pt x="909945" y="83972"/>
                    <a:pt x="909945" y="114282"/>
                  </a:cubicBezTo>
                  <a:lnTo>
                    <a:pt x="909945" y="348738"/>
                  </a:lnTo>
                  <a:cubicBezTo>
                    <a:pt x="909945" y="379047"/>
                    <a:pt x="897905" y="408115"/>
                    <a:pt x="876473" y="429547"/>
                  </a:cubicBezTo>
                  <a:cubicBezTo>
                    <a:pt x="855041" y="450979"/>
                    <a:pt x="825973" y="463020"/>
                    <a:pt x="795663" y="463020"/>
                  </a:cubicBezTo>
                  <a:lnTo>
                    <a:pt x="114282" y="463020"/>
                  </a:lnTo>
                  <a:cubicBezTo>
                    <a:pt x="83972" y="463020"/>
                    <a:pt x="54904" y="450979"/>
                    <a:pt x="33472" y="429547"/>
                  </a:cubicBezTo>
                  <a:cubicBezTo>
                    <a:pt x="12040" y="408115"/>
                    <a:pt x="0" y="379047"/>
                    <a:pt x="0" y="348738"/>
                  </a:cubicBezTo>
                  <a:lnTo>
                    <a:pt x="0" y="114282"/>
                  </a:lnTo>
                  <a:cubicBezTo>
                    <a:pt x="0" y="83972"/>
                    <a:pt x="12040" y="54904"/>
                    <a:pt x="33472" y="33472"/>
                  </a:cubicBezTo>
                  <a:cubicBezTo>
                    <a:pt x="54904" y="12040"/>
                    <a:pt x="83972" y="0"/>
                    <a:pt x="114282" y="0"/>
                  </a:cubicBezTo>
                  <a:close/>
                </a:path>
              </a:pathLst>
            </a:custGeom>
            <a:solidFill>
              <a:srgbClr val="1A3EB0"/>
            </a:solidFill>
          </p:spPr>
        </p:sp>
        <p:sp>
          <p:nvSpPr>
            <p:cNvPr name="TextBox 15" id="15"/>
            <p:cNvSpPr txBox="true"/>
            <p:nvPr/>
          </p:nvSpPr>
          <p:spPr>
            <a:xfrm>
              <a:off x="0" y="-28575"/>
              <a:ext cx="909945" cy="491595"/>
            </a:xfrm>
            <a:prstGeom prst="rect">
              <a:avLst/>
            </a:prstGeom>
          </p:spPr>
          <p:txBody>
            <a:bodyPr anchor="ctr" rtlCol="false" tIns="50800" lIns="50800" bIns="50800" rIns="50800"/>
            <a:lstStyle/>
            <a:p>
              <a:pPr algn="ctr">
                <a:lnSpc>
                  <a:spcPts val="1559"/>
                </a:lnSpc>
              </a:pPr>
            </a:p>
            <a:p>
              <a:pPr algn="ctr">
                <a:lnSpc>
                  <a:spcPts val="1919"/>
                </a:lnSpc>
              </a:pPr>
            </a:p>
            <a:p>
              <a:pPr algn="ctr">
                <a:lnSpc>
                  <a:spcPts val="1919"/>
                </a:lnSpc>
              </a:pPr>
              <a:r>
                <a:rPr lang="en-US" b="true" sz="1599">
                  <a:solidFill>
                    <a:srgbClr val="FFFFFF"/>
                  </a:solidFill>
                  <a:latin typeface="Arial Bold"/>
                  <a:ea typeface="Arial Bold"/>
                  <a:cs typeface="Arial Bold"/>
                  <a:sym typeface="Arial Bold"/>
                </a:rPr>
                <a:t>3</a:t>
              </a:r>
              <a:r>
                <a:rPr lang="en-US" b="true" sz="1599">
                  <a:solidFill>
                    <a:srgbClr val="FFFFFF"/>
                  </a:solidFill>
                  <a:latin typeface="Arial Bold"/>
                  <a:ea typeface="Arial Bold"/>
                  <a:cs typeface="Arial Bold"/>
                  <a:sym typeface="Arial Bold"/>
                </a:rPr>
                <a:t>.74</a:t>
              </a:r>
            </a:p>
          </p:txBody>
        </p:sp>
      </p:grpSp>
      <p:grpSp>
        <p:nvGrpSpPr>
          <p:cNvPr name="Group 16" id="16"/>
          <p:cNvGrpSpPr/>
          <p:nvPr/>
        </p:nvGrpSpPr>
        <p:grpSpPr>
          <a:xfrm rot="0">
            <a:off x="2653554" y="1306378"/>
            <a:ext cx="2303299" cy="1172018"/>
            <a:chOff x="0" y="0"/>
            <a:chExt cx="909945" cy="463020"/>
          </a:xfrm>
        </p:grpSpPr>
        <p:sp>
          <p:nvSpPr>
            <p:cNvPr name="Freeform 17" id="17"/>
            <p:cNvSpPr/>
            <p:nvPr/>
          </p:nvSpPr>
          <p:spPr>
            <a:xfrm flipH="false" flipV="false" rot="0">
              <a:off x="0" y="0"/>
              <a:ext cx="909945" cy="463020"/>
            </a:xfrm>
            <a:custGeom>
              <a:avLst/>
              <a:gdLst/>
              <a:ahLst/>
              <a:cxnLst/>
              <a:rect r="r" b="b" t="t" l="l"/>
              <a:pathLst>
                <a:path h="463020" w="909945">
                  <a:moveTo>
                    <a:pt x="114282" y="0"/>
                  </a:moveTo>
                  <a:lnTo>
                    <a:pt x="795663" y="0"/>
                  </a:lnTo>
                  <a:cubicBezTo>
                    <a:pt x="825973" y="0"/>
                    <a:pt x="855041" y="12040"/>
                    <a:pt x="876473" y="33472"/>
                  </a:cubicBezTo>
                  <a:cubicBezTo>
                    <a:pt x="897905" y="54904"/>
                    <a:pt x="909945" y="83972"/>
                    <a:pt x="909945" y="114282"/>
                  </a:cubicBezTo>
                  <a:lnTo>
                    <a:pt x="909945" y="348738"/>
                  </a:lnTo>
                  <a:cubicBezTo>
                    <a:pt x="909945" y="379047"/>
                    <a:pt x="897905" y="408115"/>
                    <a:pt x="876473" y="429547"/>
                  </a:cubicBezTo>
                  <a:cubicBezTo>
                    <a:pt x="855041" y="450979"/>
                    <a:pt x="825973" y="463020"/>
                    <a:pt x="795663" y="463020"/>
                  </a:cubicBezTo>
                  <a:lnTo>
                    <a:pt x="114282" y="463020"/>
                  </a:lnTo>
                  <a:cubicBezTo>
                    <a:pt x="83972" y="463020"/>
                    <a:pt x="54904" y="450979"/>
                    <a:pt x="33472" y="429547"/>
                  </a:cubicBezTo>
                  <a:cubicBezTo>
                    <a:pt x="12040" y="408115"/>
                    <a:pt x="0" y="379047"/>
                    <a:pt x="0" y="348738"/>
                  </a:cubicBezTo>
                  <a:lnTo>
                    <a:pt x="0" y="114282"/>
                  </a:lnTo>
                  <a:cubicBezTo>
                    <a:pt x="0" y="83972"/>
                    <a:pt x="12040" y="54904"/>
                    <a:pt x="33472" y="33472"/>
                  </a:cubicBezTo>
                  <a:cubicBezTo>
                    <a:pt x="54904" y="12040"/>
                    <a:pt x="83972" y="0"/>
                    <a:pt x="114282" y="0"/>
                  </a:cubicBezTo>
                  <a:close/>
                </a:path>
              </a:pathLst>
            </a:custGeom>
            <a:solidFill>
              <a:srgbClr val="1A3EB0"/>
            </a:solidFill>
          </p:spPr>
        </p:sp>
        <p:sp>
          <p:nvSpPr>
            <p:cNvPr name="TextBox 18" id="18"/>
            <p:cNvSpPr txBox="true"/>
            <p:nvPr/>
          </p:nvSpPr>
          <p:spPr>
            <a:xfrm>
              <a:off x="0" y="-38100"/>
              <a:ext cx="909945" cy="501120"/>
            </a:xfrm>
            <a:prstGeom prst="rect">
              <a:avLst/>
            </a:prstGeom>
          </p:spPr>
          <p:txBody>
            <a:bodyPr anchor="ctr" rtlCol="false" tIns="50800" lIns="50800" bIns="50800" rIns="50800"/>
            <a:lstStyle/>
            <a:p>
              <a:pPr algn="ctr">
                <a:lnSpc>
                  <a:spcPts val="1919"/>
                </a:lnSpc>
              </a:pPr>
              <a:r>
                <a:rPr lang="en-US" sz="1599">
                  <a:solidFill>
                    <a:srgbClr val="FFFFFF"/>
                  </a:solidFill>
                  <a:latin typeface="Arial"/>
                  <a:ea typeface="Arial"/>
                  <a:cs typeface="Arial"/>
                  <a:sym typeface="Arial"/>
                </a:rPr>
                <a:t> </a:t>
              </a:r>
            </a:p>
            <a:p>
              <a:pPr algn="ctr">
                <a:lnSpc>
                  <a:spcPts val="1919"/>
                </a:lnSpc>
              </a:pPr>
            </a:p>
            <a:p>
              <a:pPr algn="ctr">
                <a:lnSpc>
                  <a:spcPts val="1919"/>
                </a:lnSpc>
              </a:pPr>
              <a:r>
                <a:rPr lang="en-US" b="true" sz="1599">
                  <a:solidFill>
                    <a:srgbClr val="FFFFFF"/>
                  </a:solidFill>
                  <a:latin typeface="Arial Bold"/>
                  <a:ea typeface="Arial Bold"/>
                  <a:cs typeface="Arial Bold"/>
                  <a:sym typeface="Arial Bold"/>
                </a:rPr>
                <a:t>₹24.64</a:t>
              </a:r>
            </a:p>
          </p:txBody>
        </p:sp>
      </p:grpSp>
      <p:grpSp>
        <p:nvGrpSpPr>
          <p:cNvPr name="Group 19" id="19"/>
          <p:cNvGrpSpPr/>
          <p:nvPr/>
        </p:nvGrpSpPr>
        <p:grpSpPr>
          <a:xfrm rot="0">
            <a:off x="2644939" y="2583171"/>
            <a:ext cx="2303299" cy="1172018"/>
            <a:chOff x="0" y="0"/>
            <a:chExt cx="909945" cy="463020"/>
          </a:xfrm>
        </p:grpSpPr>
        <p:sp>
          <p:nvSpPr>
            <p:cNvPr name="Freeform 20" id="20"/>
            <p:cNvSpPr/>
            <p:nvPr/>
          </p:nvSpPr>
          <p:spPr>
            <a:xfrm flipH="false" flipV="false" rot="0">
              <a:off x="0" y="0"/>
              <a:ext cx="909945" cy="463020"/>
            </a:xfrm>
            <a:custGeom>
              <a:avLst/>
              <a:gdLst/>
              <a:ahLst/>
              <a:cxnLst/>
              <a:rect r="r" b="b" t="t" l="l"/>
              <a:pathLst>
                <a:path h="463020" w="909945">
                  <a:moveTo>
                    <a:pt x="114282" y="0"/>
                  </a:moveTo>
                  <a:lnTo>
                    <a:pt x="795663" y="0"/>
                  </a:lnTo>
                  <a:cubicBezTo>
                    <a:pt x="825973" y="0"/>
                    <a:pt x="855041" y="12040"/>
                    <a:pt x="876473" y="33472"/>
                  </a:cubicBezTo>
                  <a:cubicBezTo>
                    <a:pt x="897905" y="54904"/>
                    <a:pt x="909945" y="83972"/>
                    <a:pt x="909945" y="114282"/>
                  </a:cubicBezTo>
                  <a:lnTo>
                    <a:pt x="909945" y="348738"/>
                  </a:lnTo>
                  <a:cubicBezTo>
                    <a:pt x="909945" y="379047"/>
                    <a:pt x="897905" y="408115"/>
                    <a:pt x="876473" y="429547"/>
                  </a:cubicBezTo>
                  <a:cubicBezTo>
                    <a:pt x="855041" y="450979"/>
                    <a:pt x="825973" y="463020"/>
                    <a:pt x="795663" y="463020"/>
                  </a:cubicBezTo>
                  <a:lnTo>
                    <a:pt x="114282" y="463020"/>
                  </a:lnTo>
                  <a:cubicBezTo>
                    <a:pt x="83972" y="463020"/>
                    <a:pt x="54904" y="450979"/>
                    <a:pt x="33472" y="429547"/>
                  </a:cubicBezTo>
                  <a:cubicBezTo>
                    <a:pt x="12040" y="408115"/>
                    <a:pt x="0" y="379047"/>
                    <a:pt x="0" y="348738"/>
                  </a:cubicBezTo>
                  <a:lnTo>
                    <a:pt x="0" y="114282"/>
                  </a:lnTo>
                  <a:cubicBezTo>
                    <a:pt x="0" y="83972"/>
                    <a:pt x="12040" y="54904"/>
                    <a:pt x="33472" y="33472"/>
                  </a:cubicBezTo>
                  <a:cubicBezTo>
                    <a:pt x="54904" y="12040"/>
                    <a:pt x="83972" y="0"/>
                    <a:pt x="114282" y="0"/>
                  </a:cubicBezTo>
                  <a:close/>
                </a:path>
              </a:pathLst>
            </a:custGeom>
            <a:solidFill>
              <a:srgbClr val="1A3EB0"/>
            </a:solidFill>
          </p:spPr>
        </p:sp>
        <p:sp>
          <p:nvSpPr>
            <p:cNvPr name="TextBox 21" id="21"/>
            <p:cNvSpPr txBox="true"/>
            <p:nvPr/>
          </p:nvSpPr>
          <p:spPr>
            <a:xfrm>
              <a:off x="0" y="-28575"/>
              <a:ext cx="909945" cy="491595"/>
            </a:xfrm>
            <a:prstGeom prst="rect">
              <a:avLst/>
            </a:prstGeom>
          </p:spPr>
          <p:txBody>
            <a:bodyPr anchor="ctr" rtlCol="false" tIns="50800" lIns="50800" bIns="50800" rIns="50800"/>
            <a:lstStyle/>
            <a:p>
              <a:pPr algn="ctr">
                <a:lnSpc>
                  <a:spcPts val="1559"/>
                </a:lnSpc>
              </a:pPr>
            </a:p>
            <a:p>
              <a:pPr algn="ctr">
                <a:lnSpc>
                  <a:spcPts val="1919"/>
                </a:lnSpc>
              </a:pPr>
            </a:p>
            <a:p>
              <a:pPr algn="ctr">
                <a:lnSpc>
                  <a:spcPts val="1919"/>
                </a:lnSpc>
              </a:pPr>
              <a:r>
                <a:rPr lang="en-US" b="true" sz="1599">
                  <a:solidFill>
                    <a:srgbClr val="FFFFFF"/>
                  </a:solidFill>
                  <a:latin typeface="Arial Bold"/>
                  <a:ea typeface="Arial Bold"/>
                  <a:cs typeface="Arial Bold"/>
                  <a:sym typeface="Arial Bold"/>
                </a:rPr>
                <a:t>₹-1981 to ₹1864</a:t>
              </a:r>
            </a:p>
          </p:txBody>
        </p:sp>
      </p:grpSp>
      <p:sp>
        <p:nvSpPr>
          <p:cNvPr name="TextBox 22" id="22"/>
          <p:cNvSpPr txBox="true"/>
          <p:nvPr/>
        </p:nvSpPr>
        <p:spPr>
          <a:xfrm rot="0">
            <a:off x="2776504" y="2754621"/>
            <a:ext cx="2057400" cy="257175"/>
          </a:xfrm>
          <a:prstGeom prst="rect">
            <a:avLst/>
          </a:prstGeom>
        </p:spPr>
        <p:txBody>
          <a:bodyPr anchor="t" rtlCol="false" tIns="0" lIns="0" bIns="0" rIns="0">
            <a:spAutoFit/>
          </a:bodyPr>
          <a:lstStyle/>
          <a:p>
            <a:pPr algn="ctr">
              <a:lnSpc>
                <a:spcPts val="2100"/>
              </a:lnSpc>
            </a:pPr>
            <a:r>
              <a:rPr lang="en-US" sz="1500">
                <a:solidFill>
                  <a:srgbClr val="FFFFFF"/>
                </a:solidFill>
                <a:latin typeface="Canva Sans"/>
                <a:ea typeface="Canva Sans"/>
                <a:cs typeface="Canva Sans"/>
                <a:sym typeface="Canva Sans"/>
              </a:rPr>
              <a:t>Profit Range</a:t>
            </a:r>
          </a:p>
        </p:txBody>
      </p:sp>
      <p:sp>
        <p:nvSpPr>
          <p:cNvPr name="TextBox 23" id="23"/>
          <p:cNvSpPr txBox="true"/>
          <p:nvPr/>
        </p:nvSpPr>
        <p:spPr>
          <a:xfrm rot="0">
            <a:off x="2776504" y="1476777"/>
            <a:ext cx="2057400" cy="257175"/>
          </a:xfrm>
          <a:prstGeom prst="rect">
            <a:avLst/>
          </a:prstGeom>
        </p:spPr>
        <p:txBody>
          <a:bodyPr anchor="t" rtlCol="false" tIns="0" lIns="0" bIns="0" rIns="0">
            <a:spAutoFit/>
          </a:bodyPr>
          <a:lstStyle/>
          <a:p>
            <a:pPr algn="ctr">
              <a:lnSpc>
                <a:spcPts val="2100"/>
              </a:lnSpc>
            </a:pPr>
            <a:r>
              <a:rPr lang="en-US" sz="1500">
                <a:solidFill>
                  <a:srgbClr val="FFFFFF"/>
                </a:solidFill>
                <a:latin typeface="Canva Sans"/>
                <a:ea typeface="Canva Sans"/>
                <a:cs typeface="Canva Sans"/>
                <a:sym typeface="Canva Sans"/>
              </a:rPr>
              <a:t>Average Profit</a:t>
            </a:r>
          </a:p>
        </p:txBody>
      </p:sp>
      <p:sp>
        <p:nvSpPr>
          <p:cNvPr name="TextBox 24" id="24"/>
          <p:cNvSpPr txBox="true"/>
          <p:nvPr/>
        </p:nvSpPr>
        <p:spPr>
          <a:xfrm rot="0">
            <a:off x="232336" y="2798581"/>
            <a:ext cx="2057400" cy="257175"/>
          </a:xfrm>
          <a:prstGeom prst="rect">
            <a:avLst/>
          </a:prstGeom>
        </p:spPr>
        <p:txBody>
          <a:bodyPr anchor="t" rtlCol="false" tIns="0" lIns="0" bIns="0" rIns="0">
            <a:spAutoFit/>
          </a:bodyPr>
          <a:lstStyle/>
          <a:p>
            <a:pPr algn="ctr">
              <a:lnSpc>
                <a:spcPts val="2100"/>
              </a:lnSpc>
            </a:pPr>
            <a:r>
              <a:rPr lang="en-US" sz="1500">
                <a:solidFill>
                  <a:srgbClr val="FFFFFF"/>
                </a:solidFill>
                <a:latin typeface="Canva Sans"/>
                <a:ea typeface="Canva Sans"/>
                <a:cs typeface="Canva Sans"/>
                <a:sym typeface="Canva Sans"/>
              </a:rPr>
              <a:t>Average Quantity</a:t>
            </a:r>
          </a:p>
        </p:txBody>
      </p:sp>
      <p:sp>
        <p:nvSpPr>
          <p:cNvPr name="TextBox 25" id="25"/>
          <p:cNvSpPr txBox="true"/>
          <p:nvPr/>
        </p:nvSpPr>
        <p:spPr>
          <a:xfrm rot="0">
            <a:off x="5360222" y="1294152"/>
            <a:ext cx="4380667" cy="2619566"/>
          </a:xfrm>
          <a:prstGeom prst="rect">
            <a:avLst/>
          </a:prstGeom>
        </p:spPr>
        <p:txBody>
          <a:bodyPr anchor="t" rtlCol="false" tIns="0" lIns="0" bIns="0" rIns="0">
            <a:spAutoFit/>
          </a:bodyPr>
          <a:lstStyle/>
          <a:p>
            <a:pPr algn="l">
              <a:lnSpc>
                <a:spcPts val="2823"/>
              </a:lnSpc>
            </a:pPr>
            <a:r>
              <a:rPr lang="en-US" sz="2354">
                <a:solidFill>
                  <a:srgbClr val="000000"/>
                </a:solidFill>
                <a:latin typeface="Arial"/>
                <a:ea typeface="Arial"/>
                <a:cs typeface="Arial"/>
                <a:sym typeface="Arial"/>
              </a:rPr>
              <a:t>Distribution Insights:</a:t>
            </a:r>
          </a:p>
          <a:p>
            <a:pPr algn="l" marL="388620" indent="-194310" lvl="1">
              <a:lnSpc>
                <a:spcPts val="2158"/>
              </a:lnSpc>
              <a:buFont typeface="Arial"/>
              <a:buChar char="•"/>
            </a:pPr>
            <a:r>
              <a:rPr lang="en-US" sz="1800">
                <a:solidFill>
                  <a:srgbClr val="000000"/>
                </a:solidFill>
                <a:latin typeface="Arial"/>
                <a:ea typeface="Arial"/>
                <a:cs typeface="Arial"/>
                <a:sym typeface="Arial"/>
              </a:rPr>
              <a:t>The data shows a r</a:t>
            </a:r>
            <a:r>
              <a:rPr lang="en-US" sz="1800">
                <a:solidFill>
                  <a:srgbClr val="000000"/>
                </a:solidFill>
                <a:latin typeface="Arial"/>
                <a:ea typeface="Arial"/>
                <a:cs typeface="Arial"/>
                <a:sym typeface="Arial"/>
              </a:rPr>
              <a:t>ight-skewed distribution for Amount and Profit, with a significant number of transactions generating negative profit. This suggests potential pricing or cost issues in certain product categories that need further investigation.</a:t>
            </a:r>
          </a:p>
          <a:p>
            <a:pPr algn="l">
              <a:lnSpc>
                <a:spcPts val="2825"/>
              </a:lnSpc>
            </a:pPr>
            <a:r>
              <a:rPr lang="en-US" sz="2354">
                <a:solidFill>
                  <a:srgbClr val="000000"/>
                </a:solidFill>
                <a:latin typeface="Arial"/>
                <a:ea typeface="Arial"/>
                <a:cs typeface="Arial"/>
                <a:sym typeface="Arial"/>
              </a:rPr>
              <a:t> </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sp>
        <p:nvSpPr>
          <p:cNvPr name="Freeform 6" id="6"/>
          <p:cNvSpPr/>
          <p:nvPr/>
        </p:nvSpPr>
        <p:spPr>
          <a:xfrm flipH="false" flipV="false" rot="0">
            <a:off x="4581316" y="3150858"/>
            <a:ext cx="5004910" cy="2335123"/>
          </a:xfrm>
          <a:custGeom>
            <a:avLst/>
            <a:gdLst/>
            <a:ahLst/>
            <a:cxnLst/>
            <a:rect r="r" b="b" t="t" l="l"/>
            <a:pathLst>
              <a:path h="2335123" w="5004910">
                <a:moveTo>
                  <a:pt x="0" y="0"/>
                </a:moveTo>
                <a:lnTo>
                  <a:pt x="5004910" y="0"/>
                </a:lnTo>
                <a:lnTo>
                  <a:pt x="5004910" y="2335123"/>
                </a:lnTo>
                <a:lnTo>
                  <a:pt x="0" y="2335123"/>
                </a:lnTo>
                <a:lnTo>
                  <a:pt x="0" y="0"/>
                </a:lnTo>
                <a:close/>
              </a:path>
            </a:pathLst>
          </a:custGeom>
          <a:blipFill>
            <a:blip r:embed="rId2"/>
            <a:stretch>
              <a:fillRect l="0" t="-2822" r="0" b="-2822"/>
            </a:stretch>
          </a:blipFill>
        </p:spPr>
      </p:sp>
      <p:sp>
        <p:nvSpPr>
          <p:cNvPr name="TextBox 7" id="7"/>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8" id="8"/>
          <p:cNvSpPr txBox="true"/>
          <p:nvPr/>
        </p:nvSpPr>
        <p:spPr>
          <a:xfrm rot="0">
            <a:off x="378699" y="222428"/>
            <a:ext cx="8626266" cy="552450"/>
          </a:xfrm>
          <a:prstGeom prst="rect">
            <a:avLst/>
          </a:prstGeom>
        </p:spPr>
        <p:txBody>
          <a:bodyPr anchor="t" rtlCol="false" tIns="0" lIns="0" bIns="0" rIns="0">
            <a:spAutoFit/>
          </a:bodyPr>
          <a:lstStyle/>
          <a:p>
            <a:pPr algn="l">
              <a:lnSpc>
                <a:spcPts val="3840"/>
              </a:lnSpc>
            </a:pPr>
            <a:r>
              <a:rPr lang="en-US" sz="3200">
                <a:solidFill>
                  <a:srgbClr val="FFFFFF"/>
                </a:solidFill>
                <a:latin typeface="Arial"/>
                <a:ea typeface="Arial"/>
                <a:cs typeface="Arial"/>
                <a:sym typeface="Arial"/>
              </a:rPr>
              <a:t>Correlation</a:t>
            </a:r>
          </a:p>
        </p:txBody>
      </p:sp>
      <p:sp>
        <p:nvSpPr>
          <p:cNvPr name="TextBox 9" id="9"/>
          <p:cNvSpPr txBox="true"/>
          <p:nvPr/>
        </p:nvSpPr>
        <p:spPr>
          <a:xfrm rot="0">
            <a:off x="268183" y="1426373"/>
            <a:ext cx="8626266" cy="3783568"/>
          </a:xfrm>
          <a:prstGeom prst="rect">
            <a:avLst/>
          </a:prstGeom>
        </p:spPr>
        <p:txBody>
          <a:bodyPr anchor="t" rtlCol="false" tIns="0" lIns="0" bIns="0" rIns="0">
            <a:spAutoFit/>
          </a:bodyPr>
          <a:lstStyle/>
          <a:p>
            <a:pPr algn="l">
              <a:lnSpc>
                <a:spcPts val="3319"/>
              </a:lnSpc>
            </a:pPr>
            <a:r>
              <a:rPr lang="en-US" sz="2768">
                <a:solidFill>
                  <a:srgbClr val="000000"/>
                </a:solidFill>
                <a:latin typeface="Arial"/>
                <a:ea typeface="Arial"/>
                <a:cs typeface="Arial"/>
                <a:sym typeface="Arial"/>
              </a:rPr>
              <a:t>We found 2 weak positive correlation and 1 with nearly no correlation between:</a:t>
            </a:r>
          </a:p>
          <a:p>
            <a:pPr algn="l">
              <a:lnSpc>
                <a:spcPts val="2599"/>
              </a:lnSpc>
            </a:pPr>
          </a:p>
          <a:p>
            <a:pPr algn="l">
              <a:lnSpc>
                <a:spcPts val="5421"/>
              </a:lnSpc>
            </a:pPr>
          </a:p>
          <a:p>
            <a:pPr algn="l" marL="468174" indent="-234087" lvl="1">
              <a:lnSpc>
                <a:spcPts val="5421"/>
              </a:lnSpc>
              <a:buFont typeface="Arial"/>
              <a:buChar char="•"/>
            </a:pPr>
            <a:r>
              <a:rPr lang="en-US" sz="2168">
                <a:solidFill>
                  <a:srgbClr val="000000"/>
                </a:solidFill>
                <a:latin typeface="Arial"/>
                <a:ea typeface="Arial"/>
                <a:cs typeface="Arial"/>
                <a:sym typeface="Arial"/>
              </a:rPr>
              <a:t>Amount / Profit: 0.309</a:t>
            </a:r>
          </a:p>
          <a:p>
            <a:pPr algn="l" marL="468174" indent="-234087" lvl="1">
              <a:lnSpc>
                <a:spcPts val="5421"/>
              </a:lnSpc>
              <a:buFont typeface="Arial"/>
              <a:buChar char="•"/>
            </a:pPr>
            <a:r>
              <a:rPr lang="en-US" sz="2168">
                <a:solidFill>
                  <a:srgbClr val="000000"/>
                </a:solidFill>
                <a:latin typeface="Arial"/>
                <a:ea typeface="Arial"/>
                <a:cs typeface="Arial"/>
                <a:sym typeface="Arial"/>
              </a:rPr>
              <a:t>Amount / Quantity: 0.352</a:t>
            </a:r>
          </a:p>
          <a:p>
            <a:pPr algn="l" marL="468174" indent="-234087" lvl="1">
              <a:lnSpc>
                <a:spcPts val="5421"/>
              </a:lnSpc>
              <a:buFont typeface="Arial"/>
              <a:buChar char="•"/>
            </a:pPr>
            <a:r>
              <a:rPr lang="en-US" sz="2168">
                <a:solidFill>
                  <a:srgbClr val="000000"/>
                </a:solidFill>
                <a:latin typeface="Arial"/>
                <a:ea typeface="Arial"/>
                <a:cs typeface="Arial"/>
                <a:sym typeface="Arial"/>
              </a:rPr>
              <a:t>profit / Quantity: 0.06</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sp>
        <p:nvSpPr>
          <p:cNvPr name="Freeform 6" id="6"/>
          <p:cNvSpPr/>
          <p:nvPr/>
        </p:nvSpPr>
        <p:spPr>
          <a:xfrm flipH="false" flipV="false" rot="0">
            <a:off x="5579808" y="2829637"/>
            <a:ext cx="4188504" cy="2404801"/>
          </a:xfrm>
          <a:custGeom>
            <a:avLst/>
            <a:gdLst/>
            <a:ahLst/>
            <a:cxnLst/>
            <a:rect r="r" b="b" t="t" l="l"/>
            <a:pathLst>
              <a:path h="2404801" w="4188504">
                <a:moveTo>
                  <a:pt x="0" y="0"/>
                </a:moveTo>
                <a:lnTo>
                  <a:pt x="4188505" y="0"/>
                </a:lnTo>
                <a:lnTo>
                  <a:pt x="4188505" y="2404801"/>
                </a:lnTo>
                <a:lnTo>
                  <a:pt x="0" y="2404801"/>
                </a:lnTo>
                <a:lnTo>
                  <a:pt x="0" y="0"/>
                </a:lnTo>
                <a:close/>
              </a:path>
            </a:pathLst>
          </a:custGeom>
          <a:blipFill>
            <a:blip r:embed="rId2"/>
            <a:stretch>
              <a:fillRect l="-4610" t="-4660" r="0" b="-4660"/>
            </a:stretch>
          </a:blipFill>
        </p:spPr>
      </p:sp>
      <p:sp>
        <p:nvSpPr>
          <p:cNvPr name="TextBox 7" id="7"/>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8" id="8"/>
          <p:cNvSpPr txBox="true"/>
          <p:nvPr/>
        </p:nvSpPr>
        <p:spPr>
          <a:xfrm rot="0">
            <a:off x="378699" y="222428"/>
            <a:ext cx="8626266" cy="552450"/>
          </a:xfrm>
          <a:prstGeom prst="rect">
            <a:avLst/>
          </a:prstGeom>
        </p:spPr>
        <p:txBody>
          <a:bodyPr anchor="t" rtlCol="false" tIns="0" lIns="0" bIns="0" rIns="0">
            <a:spAutoFit/>
          </a:bodyPr>
          <a:lstStyle/>
          <a:p>
            <a:pPr algn="l">
              <a:lnSpc>
                <a:spcPts val="3840"/>
              </a:lnSpc>
            </a:pPr>
            <a:r>
              <a:rPr lang="en-US" sz="3200">
                <a:solidFill>
                  <a:srgbClr val="FFFFFF"/>
                </a:solidFill>
                <a:latin typeface="Arial"/>
                <a:ea typeface="Arial"/>
                <a:cs typeface="Arial"/>
                <a:sym typeface="Arial"/>
              </a:rPr>
              <a:t>Amount Vs Profit</a:t>
            </a:r>
          </a:p>
        </p:txBody>
      </p:sp>
      <p:sp>
        <p:nvSpPr>
          <p:cNvPr name="TextBox 9" id="9"/>
          <p:cNvSpPr txBox="true"/>
          <p:nvPr/>
        </p:nvSpPr>
        <p:spPr>
          <a:xfrm rot="0">
            <a:off x="189536" y="1387573"/>
            <a:ext cx="8626266" cy="476602"/>
          </a:xfrm>
          <a:prstGeom prst="rect">
            <a:avLst/>
          </a:prstGeom>
        </p:spPr>
        <p:txBody>
          <a:bodyPr anchor="t" rtlCol="false" tIns="0" lIns="0" bIns="0" rIns="0">
            <a:spAutoFit/>
          </a:bodyPr>
          <a:lstStyle/>
          <a:p>
            <a:pPr algn="l">
              <a:lnSpc>
                <a:spcPts val="3319"/>
              </a:lnSpc>
            </a:pPr>
            <a:r>
              <a:rPr lang="en-US" sz="2768">
                <a:solidFill>
                  <a:srgbClr val="000000"/>
                </a:solidFill>
                <a:latin typeface="Arial"/>
                <a:ea typeface="Arial"/>
                <a:cs typeface="Arial"/>
                <a:sym typeface="Arial"/>
              </a:rPr>
              <a:t>We found a correlation between Amount and Profit</a:t>
            </a:r>
          </a:p>
        </p:txBody>
      </p:sp>
      <p:sp>
        <p:nvSpPr>
          <p:cNvPr name="TextBox 10" id="10"/>
          <p:cNvSpPr txBox="true"/>
          <p:nvPr/>
        </p:nvSpPr>
        <p:spPr>
          <a:xfrm rot="0">
            <a:off x="189536" y="2214270"/>
            <a:ext cx="5291808" cy="3733855"/>
          </a:xfrm>
          <a:prstGeom prst="rect">
            <a:avLst/>
          </a:prstGeom>
        </p:spPr>
        <p:txBody>
          <a:bodyPr anchor="t" rtlCol="false" tIns="0" lIns="0" bIns="0" rIns="0">
            <a:spAutoFit/>
          </a:bodyPr>
          <a:lstStyle/>
          <a:p>
            <a:pPr algn="l">
              <a:lnSpc>
                <a:spcPts val="2169"/>
              </a:lnSpc>
            </a:pPr>
            <a:r>
              <a:rPr lang="en-US" sz="1549">
                <a:solidFill>
                  <a:srgbClr val="000000"/>
                </a:solidFill>
                <a:latin typeface="Canva Sans"/>
                <a:ea typeface="Canva Sans"/>
                <a:cs typeface="Canva Sans"/>
                <a:sym typeface="Canva Sans"/>
              </a:rPr>
              <a:t>Amount vs. Profit Correlation (r = 0.309)</a:t>
            </a:r>
          </a:p>
          <a:p>
            <a:pPr algn="l">
              <a:lnSpc>
                <a:spcPts val="2169"/>
              </a:lnSpc>
            </a:pPr>
          </a:p>
          <a:p>
            <a:pPr algn="l">
              <a:lnSpc>
                <a:spcPts val="2169"/>
              </a:lnSpc>
            </a:pPr>
            <a:r>
              <a:rPr lang="en-US" sz="1549">
                <a:solidFill>
                  <a:srgbClr val="000000"/>
                </a:solidFill>
                <a:latin typeface="Canva Sans"/>
                <a:ea typeface="Canva Sans"/>
                <a:cs typeface="Canva Sans"/>
                <a:sym typeface="Canva Sans"/>
              </a:rPr>
              <a:t>Its a weak positive relationship; as the amount increase the profit slightly increase.</a:t>
            </a:r>
          </a:p>
          <a:p>
            <a:pPr algn="l">
              <a:lnSpc>
                <a:spcPts val="2169"/>
              </a:lnSpc>
            </a:pPr>
          </a:p>
          <a:p>
            <a:pPr algn="l">
              <a:lnSpc>
                <a:spcPts val="2169"/>
              </a:lnSpc>
            </a:pPr>
            <a:r>
              <a:rPr lang="en-US" sz="1549">
                <a:solidFill>
                  <a:srgbClr val="000000"/>
                </a:solidFill>
                <a:latin typeface="Canva Sans"/>
                <a:ea typeface="Canva Sans"/>
                <a:cs typeface="Canva Sans"/>
                <a:sym typeface="Canva Sans"/>
              </a:rPr>
              <a:t>Why not stronger?</a:t>
            </a:r>
          </a:p>
          <a:p>
            <a:pPr algn="l" marL="334499" indent="-167249" lvl="1">
              <a:lnSpc>
                <a:spcPts val="2169"/>
              </a:lnSpc>
              <a:buFont typeface="Arial"/>
              <a:buChar char="•"/>
            </a:pPr>
            <a:r>
              <a:rPr lang="en-US" sz="1549">
                <a:solidFill>
                  <a:srgbClr val="000000"/>
                </a:solidFill>
                <a:latin typeface="Canva Sans"/>
                <a:ea typeface="Canva Sans"/>
                <a:cs typeface="Canva Sans"/>
                <a:sym typeface="Canva Sans"/>
              </a:rPr>
              <a:t>High sales often come with discounts or promotions</a:t>
            </a:r>
          </a:p>
          <a:p>
            <a:pPr algn="l" marL="334499" indent="-167249" lvl="1">
              <a:lnSpc>
                <a:spcPts val="2169"/>
              </a:lnSpc>
              <a:buFont typeface="Arial"/>
              <a:buChar char="•"/>
            </a:pPr>
            <a:r>
              <a:rPr lang="en-US" sz="1549">
                <a:solidFill>
                  <a:srgbClr val="000000"/>
                </a:solidFill>
                <a:latin typeface="Canva Sans"/>
                <a:ea typeface="Canva Sans"/>
                <a:cs typeface="Canva Sans"/>
                <a:sym typeface="Canva Sans"/>
              </a:rPr>
              <a:t>Cost differences across products reduce profit margins</a:t>
            </a:r>
          </a:p>
          <a:p>
            <a:pPr algn="l" marL="334499" indent="-167249" lvl="1">
              <a:lnSpc>
                <a:spcPts val="2169"/>
              </a:lnSpc>
              <a:buFont typeface="Arial"/>
              <a:buChar char="•"/>
            </a:pPr>
            <a:r>
              <a:rPr lang="en-US" sz="1549">
                <a:solidFill>
                  <a:srgbClr val="000000"/>
                </a:solidFill>
                <a:latin typeface="Canva Sans"/>
                <a:ea typeface="Canva Sans"/>
                <a:cs typeface="Canva Sans"/>
                <a:sym typeface="Canva Sans"/>
              </a:rPr>
              <a:t>expensive items are not always the most profitable</a:t>
            </a:r>
          </a:p>
          <a:p>
            <a:pPr algn="l">
              <a:lnSpc>
                <a:spcPts val="2169"/>
              </a:lnSpc>
            </a:pPr>
          </a:p>
          <a:p>
            <a:pPr algn="l">
              <a:lnSpc>
                <a:spcPts val="2169"/>
              </a:lnSpc>
            </a:pPr>
            <a:r>
              <a:rPr lang="en-US" sz="1549">
                <a:solidFill>
                  <a:srgbClr val="000000"/>
                </a:solidFill>
                <a:latin typeface="Canva Sans"/>
                <a:ea typeface="Canva Sans"/>
                <a:cs typeface="Canva Sans"/>
                <a:sym typeface="Canva Sans"/>
              </a:rPr>
              <a:t>Key Insight: </a:t>
            </a:r>
          </a:p>
          <a:p>
            <a:pPr algn="l">
              <a:lnSpc>
                <a:spcPts val="2169"/>
              </a:lnSpc>
            </a:pPr>
            <a:r>
              <a:rPr lang="en-US" sz="1549">
                <a:solidFill>
                  <a:srgbClr val="000000"/>
                </a:solidFill>
                <a:latin typeface="Canva Sans"/>
                <a:ea typeface="Canva Sans"/>
                <a:cs typeface="Canva Sans"/>
                <a:sym typeface="Canva Sans"/>
              </a:rPr>
              <a:t>Profit is driven more by margins and cost control than by sales amount alone</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9902857" cy="1197292"/>
            <a:chOff x="0" y="0"/>
            <a:chExt cx="13203810" cy="1596390"/>
          </a:xfrm>
        </p:grpSpPr>
        <p:sp>
          <p:nvSpPr>
            <p:cNvPr name="Freeform 3" id="3"/>
            <p:cNvSpPr/>
            <p:nvPr/>
          </p:nvSpPr>
          <p:spPr>
            <a:xfrm flipH="false" flipV="false" rot="0">
              <a:off x="0" y="0"/>
              <a:ext cx="13203810" cy="1596390"/>
            </a:xfrm>
            <a:custGeom>
              <a:avLst/>
              <a:gdLst/>
              <a:ahLst/>
              <a:cxnLst/>
              <a:rect r="r" b="b" t="t" l="l"/>
              <a:pathLst>
                <a:path h="1596390" w="13203810">
                  <a:moveTo>
                    <a:pt x="0" y="0"/>
                  </a:moveTo>
                  <a:lnTo>
                    <a:pt x="13203810" y="0"/>
                  </a:lnTo>
                  <a:lnTo>
                    <a:pt x="13203810" y="1596390"/>
                  </a:lnTo>
                  <a:lnTo>
                    <a:pt x="0" y="1596390"/>
                  </a:lnTo>
                  <a:close/>
                </a:path>
              </a:pathLst>
            </a:custGeom>
            <a:solidFill>
              <a:srgbClr val="193EB0"/>
            </a:solidFill>
          </p:spPr>
        </p:sp>
      </p:grpSp>
      <p:grpSp>
        <p:nvGrpSpPr>
          <p:cNvPr name="Group 4" id="4"/>
          <p:cNvGrpSpPr/>
          <p:nvPr/>
        </p:nvGrpSpPr>
        <p:grpSpPr>
          <a:xfrm rot="3727">
            <a:off x="560153" y="6204666"/>
            <a:ext cx="8793399" cy="9525"/>
            <a:chOff x="0" y="0"/>
            <a:chExt cx="11724532" cy="12700"/>
          </a:xfrm>
        </p:grpSpPr>
        <p:sp>
          <p:nvSpPr>
            <p:cNvPr name="Freeform 5" id="5"/>
            <p:cNvSpPr/>
            <p:nvPr/>
          </p:nvSpPr>
          <p:spPr>
            <a:xfrm flipH="false" flipV="false" rot="0">
              <a:off x="0" y="0"/>
              <a:ext cx="11724513" cy="12700"/>
            </a:xfrm>
            <a:custGeom>
              <a:avLst/>
              <a:gdLst/>
              <a:ahLst/>
              <a:cxnLst/>
              <a:rect r="r" b="b" t="t" l="l"/>
              <a:pathLst>
                <a:path h="12700" w="11724513">
                  <a:moveTo>
                    <a:pt x="6350" y="0"/>
                  </a:moveTo>
                  <a:lnTo>
                    <a:pt x="11718163" y="0"/>
                  </a:lnTo>
                  <a:cubicBezTo>
                    <a:pt x="11721719" y="0"/>
                    <a:pt x="11724513" y="2794"/>
                    <a:pt x="11724513" y="6350"/>
                  </a:cubicBezTo>
                  <a:cubicBezTo>
                    <a:pt x="11724513" y="9906"/>
                    <a:pt x="11721719" y="12700"/>
                    <a:pt x="11718163" y="12700"/>
                  </a:cubicBezTo>
                  <a:lnTo>
                    <a:pt x="6350" y="12700"/>
                  </a:lnTo>
                  <a:cubicBezTo>
                    <a:pt x="2794" y="12700"/>
                    <a:pt x="0" y="9906"/>
                    <a:pt x="0" y="6350"/>
                  </a:cubicBezTo>
                  <a:cubicBezTo>
                    <a:pt x="0" y="2794"/>
                    <a:pt x="2794" y="0"/>
                    <a:pt x="6350" y="0"/>
                  </a:cubicBezTo>
                  <a:close/>
                </a:path>
              </a:pathLst>
            </a:custGeom>
            <a:solidFill>
              <a:srgbClr val="BFBFBF"/>
            </a:solidFill>
          </p:spPr>
        </p:sp>
      </p:grpSp>
      <p:sp>
        <p:nvSpPr>
          <p:cNvPr name="Freeform 6" id="6"/>
          <p:cNvSpPr/>
          <p:nvPr/>
        </p:nvSpPr>
        <p:spPr>
          <a:xfrm flipH="false" flipV="false" rot="0">
            <a:off x="5235072" y="2943554"/>
            <a:ext cx="4473883" cy="2421061"/>
          </a:xfrm>
          <a:custGeom>
            <a:avLst/>
            <a:gdLst/>
            <a:ahLst/>
            <a:cxnLst/>
            <a:rect r="r" b="b" t="t" l="l"/>
            <a:pathLst>
              <a:path h="2421061" w="4473883">
                <a:moveTo>
                  <a:pt x="0" y="0"/>
                </a:moveTo>
                <a:lnTo>
                  <a:pt x="4473883" y="0"/>
                </a:lnTo>
                <a:lnTo>
                  <a:pt x="4473883" y="2421061"/>
                </a:lnTo>
                <a:lnTo>
                  <a:pt x="0" y="2421061"/>
                </a:lnTo>
                <a:lnTo>
                  <a:pt x="0" y="0"/>
                </a:lnTo>
                <a:close/>
              </a:path>
            </a:pathLst>
          </a:custGeom>
          <a:blipFill>
            <a:blip r:embed="rId2"/>
            <a:stretch>
              <a:fillRect l="0" t="-8799" r="-6065" b="-8799"/>
            </a:stretch>
          </a:blipFill>
        </p:spPr>
      </p:sp>
      <p:sp>
        <p:nvSpPr>
          <p:cNvPr name="TextBox 7" id="7"/>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7F7F7F"/>
                </a:solidFill>
                <a:latin typeface="Arial"/>
                <a:ea typeface="Arial"/>
                <a:cs typeface="Arial"/>
                <a:sym typeface="Arial"/>
              </a:rPr>
              <a:t>Samsung Innovation Campus</a:t>
            </a:r>
          </a:p>
        </p:txBody>
      </p:sp>
      <p:sp>
        <p:nvSpPr>
          <p:cNvPr name="TextBox 8" id="8"/>
          <p:cNvSpPr txBox="true"/>
          <p:nvPr/>
        </p:nvSpPr>
        <p:spPr>
          <a:xfrm rot="0">
            <a:off x="378699" y="222428"/>
            <a:ext cx="8626266" cy="552450"/>
          </a:xfrm>
          <a:prstGeom prst="rect">
            <a:avLst/>
          </a:prstGeom>
        </p:spPr>
        <p:txBody>
          <a:bodyPr anchor="t" rtlCol="false" tIns="0" lIns="0" bIns="0" rIns="0">
            <a:spAutoFit/>
          </a:bodyPr>
          <a:lstStyle/>
          <a:p>
            <a:pPr algn="l">
              <a:lnSpc>
                <a:spcPts val="3840"/>
              </a:lnSpc>
            </a:pPr>
            <a:r>
              <a:rPr lang="en-US" sz="3200">
                <a:solidFill>
                  <a:srgbClr val="FFFFFF"/>
                </a:solidFill>
                <a:latin typeface="Arial"/>
                <a:ea typeface="Arial"/>
                <a:cs typeface="Arial"/>
                <a:sym typeface="Arial"/>
              </a:rPr>
              <a:t>Amount Vs Quantity</a:t>
            </a:r>
          </a:p>
        </p:txBody>
      </p:sp>
      <p:sp>
        <p:nvSpPr>
          <p:cNvPr name="TextBox 9" id="9"/>
          <p:cNvSpPr txBox="true"/>
          <p:nvPr/>
        </p:nvSpPr>
        <p:spPr>
          <a:xfrm rot="0">
            <a:off x="217949" y="1212568"/>
            <a:ext cx="8626266" cy="895702"/>
          </a:xfrm>
          <a:prstGeom prst="rect">
            <a:avLst/>
          </a:prstGeom>
        </p:spPr>
        <p:txBody>
          <a:bodyPr anchor="t" rtlCol="false" tIns="0" lIns="0" bIns="0" rIns="0">
            <a:spAutoFit/>
          </a:bodyPr>
          <a:lstStyle/>
          <a:p>
            <a:pPr algn="l">
              <a:lnSpc>
                <a:spcPts val="3319"/>
              </a:lnSpc>
            </a:pPr>
            <a:r>
              <a:rPr lang="en-US" sz="2768">
                <a:solidFill>
                  <a:srgbClr val="000000"/>
                </a:solidFill>
                <a:latin typeface="Arial"/>
                <a:ea typeface="Arial"/>
                <a:cs typeface="Arial"/>
                <a:sym typeface="Arial"/>
              </a:rPr>
              <a:t>We found a correlation between the Amount and Quantity</a:t>
            </a:r>
          </a:p>
        </p:txBody>
      </p:sp>
      <p:sp>
        <p:nvSpPr>
          <p:cNvPr name="TextBox 10" id="10"/>
          <p:cNvSpPr txBox="true"/>
          <p:nvPr/>
        </p:nvSpPr>
        <p:spPr>
          <a:xfrm rot="0">
            <a:off x="217949" y="2385766"/>
            <a:ext cx="4720780" cy="3855085"/>
          </a:xfrm>
          <a:prstGeom prst="rect">
            <a:avLst/>
          </a:prstGeom>
        </p:spPr>
        <p:txBody>
          <a:bodyPr anchor="t" rtlCol="false" tIns="0" lIns="0" bIns="0" rIns="0">
            <a:spAutoFit/>
          </a:bodyPr>
          <a:lstStyle/>
          <a:p>
            <a:pPr algn="l">
              <a:lnSpc>
                <a:spcPts val="2240"/>
              </a:lnSpc>
            </a:pPr>
            <a:r>
              <a:rPr lang="en-US" sz="1600">
                <a:solidFill>
                  <a:srgbClr val="000000"/>
                </a:solidFill>
                <a:latin typeface="Canva Sans"/>
                <a:ea typeface="Canva Sans"/>
                <a:cs typeface="Canva Sans"/>
                <a:sym typeface="Canva Sans"/>
              </a:rPr>
              <a:t>Orders Vs. Quantity Correlation (r = 0.352)</a:t>
            </a:r>
          </a:p>
          <a:p>
            <a:pPr algn="l">
              <a:lnSpc>
                <a:spcPts val="2240"/>
              </a:lnSpc>
            </a:pPr>
          </a:p>
          <a:p>
            <a:pPr algn="l">
              <a:lnSpc>
                <a:spcPts val="2240"/>
              </a:lnSpc>
            </a:pPr>
            <a:r>
              <a:rPr lang="en-US" sz="1600">
                <a:solidFill>
                  <a:srgbClr val="000000"/>
                </a:solidFill>
                <a:latin typeface="Canva Sans"/>
                <a:ea typeface="Canva Sans"/>
                <a:cs typeface="Canva Sans"/>
                <a:sym typeface="Canva Sans"/>
              </a:rPr>
              <a:t>while Order sales value = item quantity × price, and adding items usually increases sales value, but not always linearly.</a:t>
            </a:r>
          </a:p>
          <a:p>
            <a:pPr algn="l">
              <a:lnSpc>
                <a:spcPts val="2240"/>
              </a:lnSpc>
            </a:pPr>
          </a:p>
          <a:p>
            <a:pPr algn="l">
              <a:lnSpc>
                <a:spcPts val="2240"/>
              </a:lnSpc>
            </a:pPr>
            <a:r>
              <a:rPr lang="en-US" sz="1600">
                <a:solidFill>
                  <a:srgbClr val="000000"/>
                </a:solidFill>
                <a:latin typeface="Canva Sans"/>
                <a:ea typeface="Canva Sans"/>
                <a:cs typeface="Canva Sans"/>
                <a:sym typeface="Canva Sans"/>
              </a:rPr>
              <a:t>Why?</a:t>
            </a:r>
          </a:p>
          <a:p>
            <a:pPr algn="l" marL="345443" indent="-172721" lvl="1">
              <a:lnSpc>
                <a:spcPts val="2240"/>
              </a:lnSpc>
              <a:buFont typeface="Arial"/>
              <a:buChar char="•"/>
            </a:pPr>
            <a:r>
              <a:rPr lang="en-US" sz="1600">
                <a:solidFill>
                  <a:srgbClr val="000000"/>
                </a:solidFill>
                <a:latin typeface="Canva Sans"/>
                <a:ea typeface="Canva Sans"/>
                <a:cs typeface="Canva Sans"/>
                <a:sym typeface="Canva Sans"/>
              </a:rPr>
              <a:t>Wide range of low-cost vs. high-cost items</a:t>
            </a:r>
          </a:p>
          <a:p>
            <a:pPr algn="l" marL="345443" indent="-172721" lvl="1">
              <a:lnSpc>
                <a:spcPts val="2240"/>
              </a:lnSpc>
              <a:buFont typeface="Arial"/>
              <a:buChar char="•"/>
            </a:pPr>
            <a:r>
              <a:rPr lang="en-US" sz="1600">
                <a:solidFill>
                  <a:srgbClr val="000000"/>
                </a:solidFill>
                <a:latin typeface="Canva Sans"/>
                <a:ea typeface="Canva Sans"/>
                <a:cs typeface="Canva Sans"/>
                <a:sym typeface="Canva Sans"/>
              </a:rPr>
              <a:t>A single high-cost item can exceed the sales value of many low-cost items</a:t>
            </a:r>
          </a:p>
          <a:p>
            <a:pPr algn="l">
              <a:lnSpc>
                <a:spcPts val="2240"/>
              </a:lnSpc>
            </a:pPr>
          </a:p>
          <a:p>
            <a:pPr algn="l">
              <a:lnSpc>
                <a:spcPts val="2240"/>
              </a:lnSpc>
            </a:pPr>
            <a:r>
              <a:rPr lang="en-US" sz="1600">
                <a:solidFill>
                  <a:srgbClr val="000000"/>
                </a:solidFill>
                <a:latin typeface="Canva Sans"/>
                <a:ea typeface="Canva Sans"/>
                <a:cs typeface="Canva Sans"/>
                <a:sym typeface="Canva Sans"/>
              </a:rPr>
              <a:t>Key insight:</a:t>
            </a:r>
          </a:p>
          <a:p>
            <a:pPr algn="l">
              <a:lnSpc>
                <a:spcPts val="2240"/>
              </a:lnSpc>
            </a:pPr>
            <a:r>
              <a:rPr lang="en-US" sz="1600">
                <a:solidFill>
                  <a:srgbClr val="000000"/>
                </a:solidFill>
                <a:latin typeface="Canva Sans"/>
                <a:ea typeface="Canva Sans"/>
                <a:cs typeface="Canva Sans"/>
                <a:sym typeface="Canva Sans"/>
              </a:rPr>
              <a:t>Sales value is shaped not just by how many items are sold, but by which items are sold</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p:cSld>
    <p:bg>
      <p:bgPr>
        <a:solidFill>
          <a:srgbClr val="193EB0"/>
        </a:solidFill>
      </p:bgPr>
    </p:bg>
    <p:spTree>
      <p:nvGrpSpPr>
        <p:cNvPr id="1" name=""/>
        <p:cNvGrpSpPr/>
        <p:nvPr/>
      </p:nvGrpSpPr>
      <p:grpSpPr>
        <a:xfrm>
          <a:off x="0" y="0"/>
          <a:ext cx="0" cy="0"/>
          <a:chOff x="0" y="0"/>
          <a:chExt cx="0" cy="0"/>
        </a:xfrm>
      </p:grpSpPr>
      <p:grpSp>
        <p:nvGrpSpPr>
          <p:cNvPr name="Group 2" id="2"/>
          <p:cNvGrpSpPr/>
          <p:nvPr/>
        </p:nvGrpSpPr>
        <p:grpSpPr>
          <a:xfrm rot="5400000">
            <a:off x="-821348" y="3286215"/>
            <a:ext cx="2944980" cy="28575"/>
            <a:chOff x="0" y="0"/>
            <a:chExt cx="3926640" cy="38100"/>
          </a:xfrm>
        </p:grpSpPr>
        <p:sp>
          <p:nvSpPr>
            <p:cNvPr name="Freeform 3" id="3"/>
            <p:cNvSpPr/>
            <p:nvPr/>
          </p:nvSpPr>
          <p:spPr>
            <a:xfrm flipH="false" flipV="false" rot="0">
              <a:off x="0" y="0"/>
              <a:ext cx="3926586" cy="38100"/>
            </a:xfrm>
            <a:custGeom>
              <a:avLst/>
              <a:gdLst/>
              <a:ahLst/>
              <a:cxnLst/>
              <a:rect r="r" b="b" t="t" l="l"/>
              <a:pathLst>
                <a:path h="38100" w="3926586">
                  <a:moveTo>
                    <a:pt x="19050" y="0"/>
                  </a:moveTo>
                  <a:lnTo>
                    <a:pt x="3907536" y="0"/>
                  </a:lnTo>
                  <a:cubicBezTo>
                    <a:pt x="3918077" y="0"/>
                    <a:pt x="3926586" y="8509"/>
                    <a:pt x="3926586" y="19050"/>
                  </a:cubicBezTo>
                  <a:cubicBezTo>
                    <a:pt x="3926586" y="29591"/>
                    <a:pt x="3918077" y="38100"/>
                    <a:pt x="3907536" y="38100"/>
                  </a:cubicBezTo>
                  <a:lnTo>
                    <a:pt x="19050" y="38100"/>
                  </a:lnTo>
                  <a:cubicBezTo>
                    <a:pt x="8509" y="38100"/>
                    <a:pt x="0" y="29591"/>
                    <a:pt x="0" y="19050"/>
                  </a:cubicBezTo>
                  <a:cubicBezTo>
                    <a:pt x="0" y="8509"/>
                    <a:pt x="8509" y="0"/>
                    <a:pt x="19050" y="0"/>
                  </a:cubicBezTo>
                  <a:close/>
                </a:path>
              </a:pathLst>
            </a:custGeom>
            <a:solidFill>
              <a:srgbClr val="FFFFFF"/>
            </a:solidFill>
          </p:spPr>
        </p:sp>
      </p:grpSp>
      <p:sp>
        <p:nvSpPr>
          <p:cNvPr name="TextBox 4" id="4"/>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5" id="5"/>
          <p:cNvSpPr txBox="true"/>
          <p:nvPr/>
        </p:nvSpPr>
        <p:spPr>
          <a:xfrm rot="0">
            <a:off x="945930" y="2724150"/>
            <a:ext cx="8423315" cy="2019300"/>
          </a:xfrm>
          <a:prstGeom prst="rect">
            <a:avLst/>
          </a:prstGeom>
        </p:spPr>
        <p:txBody>
          <a:bodyPr anchor="t" rtlCol="false" tIns="0" lIns="0" bIns="0" rIns="0">
            <a:spAutoFit/>
          </a:bodyPr>
          <a:lstStyle/>
          <a:p>
            <a:pPr algn="l">
              <a:lnSpc>
                <a:spcPts val="5280"/>
              </a:lnSpc>
            </a:pPr>
            <a:r>
              <a:rPr lang="en-US" sz="4400">
                <a:solidFill>
                  <a:srgbClr val="FFFFFF"/>
                </a:solidFill>
                <a:latin typeface="Arimo"/>
                <a:ea typeface="Arimo"/>
                <a:cs typeface="Arimo"/>
                <a:sym typeface="Arimo"/>
              </a:rPr>
              <a:t>Analyzing </a:t>
            </a:r>
            <a:r>
              <a:rPr lang="en-US" sz="4400">
                <a:solidFill>
                  <a:srgbClr val="FFFFFF"/>
                </a:solidFill>
                <a:latin typeface="Arimo"/>
                <a:ea typeface="Arimo"/>
                <a:cs typeface="Arimo"/>
                <a:sym typeface="Arimo"/>
              </a:rPr>
              <a:t>e-commerce sales using Power BI</a:t>
            </a:r>
          </a:p>
          <a:p>
            <a:pPr algn="l">
              <a:lnSpc>
                <a:spcPts val="5280"/>
              </a:lnSpc>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sp>
        <p:nvSpPr>
          <p:cNvPr name="Freeform 2" id="2"/>
          <p:cNvSpPr/>
          <p:nvPr/>
        </p:nvSpPr>
        <p:spPr>
          <a:xfrm flipH="false" flipV="false" rot="0">
            <a:off x="6937467" y="4556681"/>
            <a:ext cx="3206268" cy="1803526"/>
          </a:xfrm>
          <a:custGeom>
            <a:avLst/>
            <a:gdLst/>
            <a:ahLst/>
            <a:cxnLst/>
            <a:rect r="r" b="b" t="t" l="l"/>
            <a:pathLst>
              <a:path h="1803526" w="3206268">
                <a:moveTo>
                  <a:pt x="0" y="0"/>
                </a:moveTo>
                <a:lnTo>
                  <a:pt x="3206268" y="0"/>
                </a:lnTo>
                <a:lnTo>
                  <a:pt x="3206268" y="1803525"/>
                </a:lnTo>
                <a:lnTo>
                  <a:pt x="0" y="1803525"/>
                </a:lnTo>
                <a:lnTo>
                  <a:pt x="0" y="0"/>
                </a:lnTo>
                <a:close/>
              </a:path>
            </a:pathLst>
          </a:custGeom>
          <a:blipFill>
            <a:blip r:embed="rId2"/>
            <a:stretch>
              <a:fillRect l="0" t="0" r="0" b="0"/>
            </a:stretch>
          </a:blipFill>
        </p:spPr>
      </p:sp>
      <p:sp>
        <p:nvSpPr>
          <p:cNvPr name="TextBox 3" id="3"/>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4" id="4"/>
          <p:cNvSpPr txBox="true"/>
          <p:nvPr/>
        </p:nvSpPr>
        <p:spPr>
          <a:xfrm rot="0">
            <a:off x="245763" y="1959275"/>
            <a:ext cx="9192943" cy="1571625"/>
          </a:xfrm>
          <a:prstGeom prst="rect">
            <a:avLst/>
          </a:prstGeom>
        </p:spPr>
        <p:txBody>
          <a:bodyPr anchor="t" rtlCol="false" tIns="0" lIns="0" bIns="0" rIns="0">
            <a:spAutoFit/>
          </a:bodyPr>
          <a:lstStyle/>
          <a:p>
            <a:pPr algn="l" marL="432246" indent="-216123" lvl="1">
              <a:lnSpc>
                <a:spcPts val="2402"/>
              </a:lnSpc>
              <a:buFont typeface="Arial"/>
              <a:buChar char="•"/>
            </a:pPr>
            <a:r>
              <a:rPr lang="en-US" sz="2002">
                <a:solidFill>
                  <a:srgbClr val="FFFFFF"/>
                </a:solidFill>
                <a:latin typeface="Arial"/>
                <a:ea typeface="Arial"/>
                <a:cs typeface="Arial"/>
                <a:sym typeface="Arial"/>
              </a:rPr>
              <a:t>Improve understanding of customer behavior and purchasing trends</a:t>
            </a:r>
          </a:p>
          <a:p>
            <a:pPr algn="l" marL="432246" indent="-216123" lvl="1">
              <a:lnSpc>
                <a:spcPts val="2402"/>
              </a:lnSpc>
              <a:buFont typeface="Arial"/>
              <a:buChar char="•"/>
            </a:pPr>
            <a:r>
              <a:rPr lang="en-US" sz="2002">
                <a:solidFill>
                  <a:srgbClr val="FFFFFF"/>
                </a:solidFill>
                <a:latin typeface="Arial"/>
                <a:ea typeface="Arial"/>
                <a:cs typeface="Arial"/>
                <a:sym typeface="Arial"/>
              </a:rPr>
              <a:t>Identify the most profitable and least performing products</a:t>
            </a:r>
          </a:p>
          <a:p>
            <a:pPr algn="l" marL="432246" indent="-216123" lvl="1">
              <a:lnSpc>
                <a:spcPts val="2402"/>
              </a:lnSpc>
              <a:buFont typeface="Arial"/>
              <a:buChar char="•"/>
            </a:pPr>
            <a:r>
              <a:rPr lang="en-US" sz="2002">
                <a:solidFill>
                  <a:srgbClr val="FFFFFF"/>
                </a:solidFill>
                <a:latin typeface="Arial"/>
                <a:ea typeface="Arial"/>
                <a:cs typeface="Arial"/>
                <a:sym typeface="Arial"/>
              </a:rPr>
              <a:t>Sales analysis by geographic region</a:t>
            </a:r>
          </a:p>
          <a:p>
            <a:pPr algn="l" marL="432246" indent="-216123" lvl="1">
              <a:lnSpc>
                <a:spcPts val="2402"/>
              </a:lnSpc>
              <a:buFont typeface="Arial"/>
              <a:buChar char="•"/>
            </a:pPr>
            <a:r>
              <a:rPr lang="en-US" sz="2002">
                <a:solidFill>
                  <a:srgbClr val="FFFFFF"/>
                </a:solidFill>
                <a:latin typeface="Arial"/>
                <a:ea typeface="Arial"/>
                <a:cs typeface="Arial"/>
                <a:sym typeface="Arial"/>
              </a:rPr>
              <a:t>Understanding payment method preferences and their impact on sales</a:t>
            </a:r>
          </a:p>
          <a:p>
            <a:pPr algn="l" marL="432246" indent="-216123" lvl="1">
              <a:lnSpc>
                <a:spcPts val="2402"/>
              </a:lnSpc>
              <a:buFont typeface="Arial"/>
              <a:buChar char="•"/>
            </a:pPr>
            <a:r>
              <a:rPr lang="en-US" sz="2002">
                <a:solidFill>
                  <a:srgbClr val="FFFFFF"/>
                </a:solidFill>
                <a:latin typeface="Arial"/>
                <a:ea typeface="Arial"/>
                <a:cs typeface="Arial"/>
                <a:sym typeface="Arial"/>
              </a:rPr>
              <a:t>Making data-driven business decisions</a:t>
            </a:r>
          </a:p>
        </p:txBody>
      </p:sp>
      <p:sp>
        <p:nvSpPr>
          <p:cNvPr name="TextBox 5" id="5"/>
          <p:cNvSpPr txBox="true"/>
          <p:nvPr/>
        </p:nvSpPr>
        <p:spPr>
          <a:xfrm rot="0">
            <a:off x="1490464" y="773111"/>
            <a:ext cx="6915547" cy="523875"/>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The importance of sales data analysis</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89894" y="1057275"/>
          <a:ext cx="2514600" cy="3352800"/>
        </p:xfrm>
        <a:graphic>
          <a:graphicData uri="http://schemas.openxmlformats.org/presentationml/2006/ole">
            <p:oleObj imgW="3175000" imgH="4013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6622961" y="2314084"/>
            <a:ext cx="3056851" cy="1881370"/>
          </a:xfrm>
          <a:custGeom>
            <a:avLst/>
            <a:gdLst/>
            <a:ahLst/>
            <a:cxnLst/>
            <a:rect r="r" b="b" t="t" l="l"/>
            <a:pathLst>
              <a:path h="1881370" w="3056851">
                <a:moveTo>
                  <a:pt x="0" y="0"/>
                </a:moveTo>
                <a:lnTo>
                  <a:pt x="3056852" y="0"/>
                </a:lnTo>
                <a:lnTo>
                  <a:pt x="3056852" y="1881370"/>
                </a:lnTo>
                <a:lnTo>
                  <a:pt x="0" y="1881370"/>
                </a:lnTo>
                <a:lnTo>
                  <a:pt x="0" y="0"/>
                </a:lnTo>
                <a:close/>
              </a:path>
            </a:pathLst>
          </a:custGeom>
          <a:blipFill>
            <a:blip r:embed="rId4"/>
            <a:stretch>
              <a:fillRect l="-21167" t="-6801" r="-23883" b="-11037"/>
            </a:stretch>
          </a:blipFill>
        </p:spPr>
      </p:sp>
      <p:sp>
        <p:nvSpPr>
          <p:cNvPr name="Freeform 4" id="4"/>
          <p:cNvSpPr/>
          <p:nvPr/>
        </p:nvSpPr>
        <p:spPr>
          <a:xfrm flipH="false" flipV="false" rot="0">
            <a:off x="126366" y="4979335"/>
            <a:ext cx="339224" cy="352305"/>
          </a:xfrm>
          <a:custGeom>
            <a:avLst/>
            <a:gdLst/>
            <a:ahLst/>
            <a:cxnLst/>
            <a:rect r="r" b="b" t="t" l="l"/>
            <a:pathLst>
              <a:path h="352305" w="339224">
                <a:moveTo>
                  <a:pt x="0" y="0"/>
                </a:moveTo>
                <a:lnTo>
                  <a:pt x="339224" y="0"/>
                </a:lnTo>
                <a:lnTo>
                  <a:pt x="339224" y="352305"/>
                </a:lnTo>
                <a:lnTo>
                  <a:pt x="0" y="3523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6" id="6"/>
          <p:cNvSpPr txBox="true"/>
          <p:nvPr/>
        </p:nvSpPr>
        <p:spPr>
          <a:xfrm rot="0">
            <a:off x="289894" y="266700"/>
            <a:ext cx="3039864" cy="790575"/>
          </a:xfrm>
          <a:prstGeom prst="rect">
            <a:avLst/>
          </a:prstGeom>
        </p:spPr>
        <p:txBody>
          <a:bodyPr anchor="t" rtlCol="false" tIns="0" lIns="0" bIns="0" rIns="0">
            <a:spAutoFit/>
          </a:bodyPr>
          <a:lstStyle/>
          <a:p>
            <a:pPr algn="ctr">
              <a:lnSpc>
                <a:spcPts val="2999"/>
              </a:lnSpc>
              <a:spcBef>
                <a:spcPct val="0"/>
              </a:spcBef>
            </a:pPr>
            <a:r>
              <a:rPr lang="en-US" b="true" sz="2499">
                <a:solidFill>
                  <a:srgbClr val="FFFFFF"/>
                </a:solidFill>
                <a:latin typeface="Arial Bold"/>
                <a:ea typeface="Arial Bold"/>
                <a:cs typeface="Arial Bold"/>
                <a:sym typeface="Arial Bold"/>
              </a:rPr>
              <a:t>Sales data structure</a:t>
            </a:r>
          </a:p>
          <a:p>
            <a:pPr algn="ctr">
              <a:lnSpc>
                <a:spcPts val="2999"/>
              </a:lnSpc>
              <a:spcBef>
                <a:spcPct val="0"/>
              </a:spcBef>
            </a:pPr>
          </a:p>
        </p:txBody>
      </p:sp>
      <p:sp>
        <p:nvSpPr>
          <p:cNvPr name="TextBox 7" id="7"/>
          <p:cNvSpPr txBox="true"/>
          <p:nvPr/>
        </p:nvSpPr>
        <p:spPr>
          <a:xfrm rot="0">
            <a:off x="465590" y="4738995"/>
            <a:ext cx="9214223" cy="1352550"/>
          </a:xfrm>
          <a:prstGeom prst="rect">
            <a:avLst/>
          </a:prstGeom>
        </p:spPr>
        <p:txBody>
          <a:bodyPr anchor="t" rtlCol="false" tIns="0" lIns="0" bIns="0" rIns="0">
            <a:spAutoFit/>
          </a:bodyPr>
          <a:lstStyle/>
          <a:p>
            <a:pPr algn="l">
              <a:lnSpc>
                <a:spcPts val="2039"/>
              </a:lnSpc>
              <a:spcBef>
                <a:spcPct val="0"/>
              </a:spcBef>
            </a:pPr>
          </a:p>
          <a:p>
            <a:pPr algn="l">
              <a:lnSpc>
                <a:spcPts val="2279"/>
              </a:lnSpc>
              <a:spcBef>
                <a:spcPct val="0"/>
              </a:spcBef>
            </a:pPr>
            <a:r>
              <a:rPr lang="en-US" b="true" sz="1899">
                <a:solidFill>
                  <a:srgbClr val="FFFFFF"/>
                </a:solidFill>
                <a:latin typeface="Arial Bold"/>
                <a:ea typeface="Arial Bold"/>
                <a:cs typeface="Arial Bold"/>
                <a:sym typeface="Arial Bold"/>
              </a:rPr>
              <a:t>Key Insights</a:t>
            </a:r>
          </a:p>
          <a:p>
            <a:pPr algn="l">
              <a:lnSpc>
                <a:spcPts val="2039"/>
              </a:lnSpc>
              <a:spcBef>
                <a:spcPct val="0"/>
              </a:spcBef>
            </a:pPr>
            <a:r>
              <a:rPr lang="en-US" sz="1699">
                <a:solidFill>
                  <a:srgbClr val="FFFFFF"/>
                </a:solidFill>
                <a:latin typeface="Arial"/>
                <a:ea typeface="Arial"/>
                <a:cs typeface="Arial"/>
                <a:sym typeface="Arial"/>
              </a:rPr>
              <a:t>Organizing data in this way allows analysis of the relationship between product categories, payment methods, and profitability, helping to determine which products have the highest profit margins and which payment methods are most popular with customers.</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sp>
        <p:nvSpPr>
          <p:cNvPr name="TextBox 2" id="2"/>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3" id="3"/>
          <p:cNvSpPr txBox="true"/>
          <p:nvPr/>
        </p:nvSpPr>
        <p:spPr>
          <a:xfrm rot="0">
            <a:off x="2987562" y="338633"/>
            <a:ext cx="3303999" cy="1364036"/>
          </a:xfrm>
          <a:prstGeom prst="rect">
            <a:avLst/>
          </a:prstGeom>
        </p:spPr>
        <p:txBody>
          <a:bodyPr anchor="t" rtlCol="false" tIns="0" lIns="0" bIns="0" rIns="0">
            <a:spAutoFit/>
          </a:bodyPr>
          <a:lstStyle/>
          <a:p>
            <a:pPr algn="l">
              <a:lnSpc>
                <a:spcPts val="3597"/>
              </a:lnSpc>
            </a:pPr>
            <a:r>
              <a:rPr lang="en-US" sz="2997" b="true">
                <a:solidFill>
                  <a:srgbClr val="FFFFFF"/>
                </a:solidFill>
                <a:latin typeface="Arimo Bold"/>
                <a:ea typeface="Arimo Bold"/>
                <a:cs typeface="Arimo Bold"/>
                <a:sym typeface="Arimo Bold"/>
              </a:rPr>
              <a:t>Order</a:t>
            </a:r>
            <a:r>
              <a:rPr lang="en-US" sz="2997" b="true">
                <a:solidFill>
                  <a:srgbClr val="FFFFFF"/>
                </a:solidFill>
                <a:latin typeface="Arimo Bold"/>
                <a:ea typeface="Arimo Bold"/>
                <a:cs typeface="Arimo Bold"/>
                <a:sym typeface="Arimo Bold"/>
              </a:rPr>
              <a:t> Dashboard</a:t>
            </a:r>
          </a:p>
          <a:p>
            <a:pPr algn="l">
              <a:lnSpc>
                <a:spcPts val="3597"/>
              </a:lnSpc>
            </a:pPr>
          </a:p>
          <a:p>
            <a:pPr algn="l">
              <a:lnSpc>
                <a:spcPts val="3597"/>
              </a:lnSpc>
            </a:pPr>
          </a:p>
        </p:txBody>
      </p:sp>
      <p:sp>
        <p:nvSpPr>
          <p:cNvPr name="TextBox 4" id="4"/>
          <p:cNvSpPr txBox="true"/>
          <p:nvPr/>
        </p:nvSpPr>
        <p:spPr>
          <a:xfrm rot="0">
            <a:off x="685800" y="1544767"/>
            <a:ext cx="8953996" cy="1952625"/>
          </a:xfrm>
          <a:prstGeom prst="rect">
            <a:avLst/>
          </a:prstGeom>
        </p:spPr>
        <p:txBody>
          <a:bodyPr anchor="t" rtlCol="false" tIns="0" lIns="0" bIns="0" rIns="0">
            <a:spAutoFit/>
          </a:bodyPr>
          <a:lstStyle/>
          <a:p>
            <a:pPr algn="just">
              <a:lnSpc>
                <a:spcPts val="2400"/>
              </a:lnSpc>
            </a:pPr>
            <a:r>
              <a:rPr lang="en-US" b="true" sz="2000">
                <a:solidFill>
                  <a:srgbClr val="FFFFFF"/>
                </a:solidFill>
                <a:latin typeface="Arial Bold"/>
                <a:ea typeface="Arial Bold"/>
                <a:cs typeface="Arial Bold"/>
                <a:sym typeface="Arial Bold"/>
              </a:rPr>
              <a:t>Key points</a:t>
            </a:r>
          </a:p>
          <a:p>
            <a:pPr algn="just" marL="323850" indent="-161925" lvl="1">
              <a:lnSpc>
                <a:spcPts val="1800"/>
              </a:lnSpc>
              <a:buFont typeface="Arial"/>
              <a:buChar char="•"/>
            </a:pPr>
            <a:r>
              <a:rPr lang="en-US" b="true" sz="1500">
                <a:solidFill>
                  <a:srgbClr val="FFFFFF"/>
                </a:solidFill>
                <a:latin typeface="Arial Bold"/>
                <a:ea typeface="Arial Bold"/>
                <a:cs typeface="Arial Bold"/>
                <a:sym typeface="Arial Bold"/>
              </a:rPr>
              <a:t> Monthly Trends: </a:t>
            </a:r>
            <a:r>
              <a:rPr lang="en-US" sz="1500">
                <a:solidFill>
                  <a:srgbClr val="FFFFFF"/>
                </a:solidFill>
                <a:latin typeface="Arial"/>
                <a:ea typeface="Arial"/>
                <a:cs typeface="Arial"/>
                <a:sym typeface="Arial"/>
              </a:rPr>
              <a:t>The dashboard shows profit and amount trends by month, helping to identify seasonal patterns.</a:t>
            </a:r>
          </a:p>
          <a:p>
            <a:pPr algn="just" marL="323850" indent="-161925" lvl="1">
              <a:lnSpc>
                <a:spcPts val="1800"/>
              </a:lnSpc>
              <a:buFont typeface="Arial"/>
              <a:buChar char="•"/>
            </a:pPr>
            <a:r>
              <a:rPr lang="en-US" sz="1500">
                <a:solidFill>
                  <a:srgbClr val="FFFFFF"/>
                </a:solidFill>
                <a:latin typeface="Arial"/>
                <a:ea typeface="Arial"/>
                <a:cs typeface="Arial"/>
                <a:sym typeface="Arial"/>
              </a:rPr>
              <a:t> </a:t>
            </a:r>
            <a:r>
              <a:rPr lang="en-US" b="true" sz="1500">
                <a:solidFill>
                  <a:srgbClr val="FFFFFF"/>
                </a:solidFill>
                <a:latin typeface="Arial Bold"/>
                <a:ea typeface="Arial Bold"/>
                <a:cs typeface="Arial Bold"/>
                <a:sym typeface="Arial Bold"/>
              </a:rPr>
              <a:t>Best-selling products: </a:t>
            </a:r>
            <a:r>
              <a:rPr lang="en-US" sz="1500">
                <a:solidFill>
                  <a:srgbClr val="FFFFFF"/>
                </a:solidFill>
                <a:latin typeface="Arial"/>
                <a:ea typeface="Arial"/>
                <a:cs typeface="Arial"/>
                <a:sym typeface="Arial"/>
              </a:rPr>
              <a:t>Displays the best-selling subcategories, helping to improve inventory strategies.</a:t>
            </a:r>
          </a:p>
          <a:p>
            <a:pPr algn="just" marL="323850" indent="-161925" lvl="1">
              <a:lnSpc>
                <a:spcPts val="1800"/>
              </a:lnSpc>
              <a:buFont typeface="Arial"/>
              <a:buChar char="•"/>
            </a:pPr>
            <a:r>
              <a:rPr lang="en-US" sz="1500">
                <a:solidFill>
                  <a:srgbClr val="FFFFFF"/>
                </a:solidFill>
                <a:latin typeface="Arial"/>
                <a:ea typeface="Arial"/>
                <a:cs typeface="Arial"/>
                <a:sym typeface="Arial"/>
              </a:rPr>
              <a:t> </a:t>
            </a:r>
            <a:r>
              <a:rPr lang="en-US" b="true" sz="1500">
                <a:solidFill>
                  <a:srgbClr val="FFFFFF"/>
                </a:solidFill>
                <a:latin typeface="Arial Bold"/>
                <a:ea typeface="Arial Bold"/>
                <a:cs typeface="Arial Bold"/>
                <a:sym typeface="Arial Bold"/>
              </a:rPr>
              <a:t>Sales breakdown by category: </a:t>
            </a:r>
            <a:r>
              <a:rPr lang="en-US" sz="1500">
                <a:solidFill>
                  <a:srgbClr val="FFFFFF"/>
                </a:solidFill>
                <a:latin typeface="Arial"/>
                <a:ea typeface="Arial"/>
                <a:cs typeface="Arial"/>
                <a:sym typeface="Arial"/>
              </a:rPr>
              <a:t>Analysis of sales ratios between major categories (clothing, electronics, furniture).</a:t>
            </a:r>
          </a:p>
          <a:p>
            <a:pPr algn="just" marL="323850" indent="-161925" lvl="1">
              <a:lnSpc>
                <a:spcPts val="1800"/>
              </a:lnSpc>
              <a:buFont typeface="Arial"/>
              <a:buChar char="•"/>
            </a:pPr>
            <a:r>
              <a:rPr lang="en-US" sz="1500">
                <a:solidFill>
                  <a:srgbClr val="FFFFFF"/>
                </a:solidFill>
                <a:latin typeface="Arial"/>
                <a:ea typeface="Arial"/>
                <a:cs typeface="Arial"/>
                <a:sym typeface="Arial"/>
              </a:rPr>
              <a:t> </a:t>
            </a:r>
            <a:r>
              <a:rPr lang="en-US" b="true" sz="1500">
                <a:solidFill>
                  <a:srgbClr val="FFFFFF"/>
                </a:solidFill>
                <a:latin typeface="Arial Bold"/>
                <a:ea typeface="Arial Bold"/>
                <a:cs typeface="Arial Bold"/>
                <a:sym typeface="Arial Bold"/>
              </a:rPr>
              <a:t>Monthly Details:</a:t>
            </a:r>
            <a:r>
              <a:rPr lang="en-US" sz="1500">
                <a:solidFill>
                  <a:srgbClr val="FFFFFF"/>
                </a:solidFill>
                <a:latin typeface="Arial"/>
                <a:ea typeface="Arial"/>
                <a:cs typeface="Arial"/>
                <a:sym typeface="Arial"/>
              </a:rPr>
              <a:t> A table showing the quantity and amount details by category for each month</a:t>
            </a:r>
          </a:p>
        </p:txBody>
      </p:sp>
      <p:grpSp>
        <p:nvGrpSpPr>
          <p:cNvPr name="Group 5" id="5"/>
          <p:cNvGrpSpPr/>
          <p:nvPr/>
        </p:nvGrpSpPr>
        <p:grpSpPr>
          <a:xfrm rot="0">
            <a:off x="0" y="4195562"/>
            <a:ext cx="10029981" cy="1732532"/>
            <a:chOff x="0" y="0"/>
            <a:chExt cx="3962461" cy="684457"/>
          </a:xfrm>
        </p:grpSpPr>
        <p:sp>
          <p:nvSpPr>
            <p:cNvPr name="Freeform 6" id="6"/>
            <p:cNvSpPr/>
            <p:nvPr/>
          </p:nvSpPr>
          <p:spPr>
            <a:xfrm flipH="false" flipV="false" rot="0">
              <a:off x="0" y="0"/>
              <a:ext cx="3962462" cy="684457"/>
            </a:xfrm>
            <a:custGeom>
              <a:avLst/>
              <a:gdLst/>
              <a:ahLst/>
              <a:cxnLst/>
              <a:rect r="r" b="b" t="t" l="l"/>
              <a:pathLst>
                <a:path h="684457" w="3962462">
                  <a:moveTo>
                    <a:pt x="8491" y="0"/>
                  </a:moveTo>
                  <a:lnTo>
                    <a:pt x="3953971" y="0"/>
                  </a:lnTo>
                  <a:cubicBezTo>
                    <a:pt x="3958660" y="0"/>
                    <a:pt x="3962462" y="3801"/>
                    <a:pt x="3962462" y="8491"/>
                  </a:cubicBezTo>
                  <a:lnTo>
                    <a:pt x="3962462" y="675966"/>
                  </a:lnTo>
                  <a:cubicBezTo>
                    <a:pt x="3962462" y="680656"/>
                    <a:pt x="3958660" y="684457"/>
                    <a:pt x="3953971" y="684457"/>
                  </a:cubicBezTo>
                  <a:lnTo>
                    <a:pt x="8491" y="684457"/>
                  </a:lnTo>
                  <a:cubicBezTo>
                    <a:pt x="3801" y="684457"/>
                    <a:pt x="0" y="680656"/>
                    <a:pt x="0" y="675966"/>
                  </a:cubicBezTo>
                  <a:lnTo>
                    <a:pt x="0" y="8491"/>
                  </a:lnTo>
                  <a:cubicBezTo>
                    <a:pt x="0" y="3801"/>
                    <a:pt x="3801" y="0"/>
                    <a:pt x="8491" y="0"/>
                  </a:cubicBezTo>
                  <a:close/>
                </a:path>
              </a:pathLst>
            </a:custGeom>
            <a:solidFill>
              <a:srgbClr val="FFFFFF"/>
            </a:solidFill>
          </p:spPr>
        </p:sp>
        <p:sp>
          <p:nvSpPr>
            <p:cNvPr name="TextBox 7" id="7"/>
            <p:cNvSpPr txBox="true"/>
            <p:nvPr/>
          </p:nvSpPr>
          <p:spPr>
            <a:xfrm>
              <a:off x="0" y="-28575"/>
              <a:ext cx="3962461" cy="713032"/>
            </a:xfrm>
            <a:prstGeom prst="rect">
              <a:avLst/>
            </a:prstGeom>
          </p:spPr>
          <p:txBody>
            <a:bodyPr anchor="ctr" rtlCol="false" tIns="50800" lIns="50800" bIns="50800" rIns="50800"/>
            <a:lstStyle/>
            <a:p>
              <a:pPr algn="ctr">
                <a:lnSpc>
                  <a:spcPts val="1559"/>
                </a:lnSpc>
              </a:pPr>
            </a:p>
          </p:txBody>
        </p:sp>
      </p:grpSp>
      <p:sp>
        <p:nvSpPr>
          <p:cNvPr name="TextBox 8" id="8"/>
          <p:cNvSpPr txBox="true"/>
          <p:nvPr/>
        </p:nvSpPr>
        <p:spPr>
          <a:xfrm rot="0">
            <a:off x="514771" y="4533191"/>
            <a:ext cx="9000439" cy="1019175"/>
          </a:xfrm>
          <a:prstGeom prst="rect">
            <a:avLst/>
          </a:prstGeom>
        </p:spPr>
        <p:txBody>
          <a:bodyPr anchor="t" rtlCol="false" tIns="0" lIns="0" bIns="0" rIns="0">
            <a:spAutoFit/>
          </a:bodyPr>
          <a:lstStyle/>
          <a:p>
            <a:pPr algn="l">
              <a:lnSpc>
                <a:spcPts val="2399"/>
              </a:lnSpc>
              <a:spcBef>
                <a:spcPct val="0"/>
              </a:spcBef>
            </a:pPr>
            <a:r>
              <a:rPr lang="en-US" b="true" sz="1999">
                <a:solidFill>
                  <a:srgbClr val="193EB0"/>
                </a:solidFill>
                <a:latin typeface="Arial Bold"/>
                <a:ea typeface="Arial Bold"/>
                <a:cs typeface="Arial Bold"/>
                <a:sym typeface="Arial Bold"/>
              </a:rPr>
              <a:t>Insights gained</a:t>
            </a:r>
          </a:p>
          <a:p>
            <a:pPr algn="l">
              <a:lnSpc>
                <a:spcPts val="1800"/>
              </a:lnSpc>
              <a:spcBef>
                <a:spcPct val="0"/>
              </a:spcBef>
            </a:pPr>
            <a:r>
              <a:rPr lang="en-US" sz="1500">
                <a:solidFill>
                  <a:srgbClr val="193EB0"/>
                </a:solidFill>
                <a:latin typeface="Arial"/>
                <a:ea typeface="Arial"/>
                <a:cs typeface="Arial"/>
                <a:sym typeface="Arial"/>
              </a:rPr>
              <a:t>The data shows that the profit margin (8.44%) is relatively low, indicating a need to review pricing strategies. There is also significant variation in profitability across categories, with electronics achieving higher profit margins than clothing and furniture</a:t>
            </a:r>
          </a:p>
        </p:txBody>
      </p:sp>
      <p:sp>
        <p:nvSpPr>
          <p:cNvPr name="Freeform 9" id="9"/>
          <p:cNvSpPr/>
          <p:nvPr/>
        </p:nvSpPr>
        <p:spPr>
          <a:xfrm flipH="false" flipV="false" rot="0">
            <a:off x="87067" y="4402297"/>
            <a:ext cx="339224" cy="352305"/>
          </a:xfrm>
          <a:custGeom>
            <a:avLst/>
            <a:gdLst/>
            <a:ahLst/>
            <a:cxnLst/>
            <a:rect r="r" b="b" t="t" l="l"/>
            <a:pathLst>
              <a:path h="352305" w="339224">
                <a:moveTo>
                  <a:pt x="0" y="0"/>
                </a:moveTo>
                <a:lnTo>
                  <a:pt x="339224" y="0"/>
                </a:lnTo>
                <a:lnTo>
                  <a:pt x="339224" y="352305"/>
                </a:lnTo>
                <a:lnTo>
                  <a:pt x="0" y="3523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69612" y="1592392"/>
            <a:ext cx="516188" cy="220553"/>
          </a:xfrm>
          <a:custGeom>
            <a:avLst/>
            <a:gdLst/>
            <a:ahLst/>
            <a:cxnLst/>
            <a:rect r="r" b="b" t="t" l="l"/>
            <a:pathLst>
              <a:path h="220553" w="516188">
                <a:moveTo>
                  <a:pt x="0" y="0"/>
                </a:moveTo>
                <a:lnTo>
                  <a:pt x="516188" y="0"/>
                </a:lnTo>
                <a:lnTo>
                  <a:pt x="516188" y="220553"/>
                </a:lnTo>
                <a:lnTo>
                  <a:pt x="0" y="220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044104" y="685800"/>
            <a:ext cx="1037758" cy="1011342"/>
          </a:xfrm>
          <a:custGeom>
            <a:avLst/>
            <a:gdLst/>
            <a:ahLst/>
            <a:cxnLst/>
            <a:rect r="r" b="b" t="t" l="l"/>
            <a:pathLst>
              <a:path h="1011342" w="1037758">
                <a:moveTo>
                  <a:pt x="0" y="0"/>
                </a:moveTo>
                <a:lnTo>
                  <a:pt x="1037758" y="0"/>
                </a:lnTo>
                <a:lnTo>
                  <a:pt x="1037758" y="1011342"/>
                </a:lnTo>
                <a:lnTo>
                  <a:pt x="0" y="1011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grpSp>
        <p:nvGrpSpPr>
          <p:cNvPr name="Group 2" id="2"/>
          <p:cNvGrpSpPr/>
          <p:nvPr/>
        </p:nvGrpSpPr>
        <p:grpSpPr>
          <a:xfrm rot="0">
            <a:off x="-62686" y="4280246"/>
            <a:ext cx="10238166" cy="1378131"/>
            <a:chOff x="0" y="0"/>
            <a:chExt cx="4044708" cy="544447"/>
          </a:xfrm>
        </p:grpSpPr>
        <p:sp>
          <p:nvSpPr>
            <p:cNvPr name="Freeform 3" id="3"/>
            <p:cNvSpPr/>
            <p:nvPr/>
          </p:nvSpPr>
          <p:spPr>
            <a:xfrm flipH="false" flipV="false" rot="0">
              <a:off x="0" y="0"/>
              <a:ext cx="4044708" cy="544447"/>
            </a:xfrm>
            <a:custGeom>
              <a:avLst/>
              <a:gdLst/>
              <a:ahLst/>
              <a:cxnLst/>
              <a:rect r="r" b="b" t="t" l="l"/>
              <a:pathLst>
                <a:path h="544447" w="4044708">
                  <a:moveTo>
                    <a:pt x="8318" y="0"/>
                  </a:moveTo>
                  <a:lnTo>
                    <a:pt x="4036390" y="0"/>
                  </a:lnTo>
                  <a:cubicBezTo>
                    <a:pt x="4040984" y="0"/>
                    <a:pt x="4044708" y="3724"/>
                    <a:pt x="4044708" y="8318"/>
                  </a:cubicBezTo>
                  <a:lnTo>
                    <a:pt x="4044708" y="536129"/>
                  </a:lnTo>
                  <a:cubicBezTo>
                    <a:pt x="4044708" y="538335"/>
                    <a:pt x="4043831" y="540450"/>
                    <a:pt x="4042271" y="542010"/>
                  </a:cubicBezTo>
                  <a:cubicBezTo>
                    <a:pt x="4040711" y="543570"/>
                    <a:pt x="4038596" y="544447"/>
                    <a:pt x="4036390" y="544447"/>
                  </a:cubicBezTo>
                  <a:lnTo>
                    <a:pt x="8318" y="544447"/>
                  </a:lnTo>
                  <a:cubicBezTo>
                    <a:pt x="3724" y="544447"/>
                    <a:pt x="0" y="540723"/>
                    <a:pt x="0" y="536129"/>
                  </a:cubicBezTo>
                  <a:lnTo>
                    <a:pt x="0" y="8318"/>
                  </a:lnTo>
                  <a:cubicBezTo>
                    <a:pt x="0" y="6112"/>
                    <a:pt x="876" y="3996"/>
                    <a:pt x="2436" y="2436"/>
                  </a:cubicBezTo>
                  <a:cubicBezTo>
                    <a:pt x="3996" y="876"/>
                    <a:pt x="6112" y="0"/>
                    <a:pt x="8318" y="0"/>
                  </a:cubicBezTo>
                  <a:close/>
                </a:path>
              </a:pathLst>
            </a:custGeom>
            <a:solidFill>
              <a:srgbClr val="FFFFFF"/>
            </a:solidFill>
          </p:spPr>
        </p:sp>
        <p:sp>
          <p:nvSpPr>
            <p:cNvPr name="TextBox 4" id="4"/>
            <p:cNvSpPr txBox="true"/>
            <p:nvPr/>
          </p:nvSpPr>
          <p:spPr>
            <a:xfrm>
              <a:off x="0" y="-28575"/>
              <a:ext cx="4044708" cy="573022"/>
            </a:xfrm>
            <a:prstGeom prst="rect">
              <a:avLst/>
            </a:prstGeom>
          </p:spPr>
          <p:txBody>
            <a:bodyPr anchor="ctr" rtlCol="false" tIns="50800" lIns="50800" bIns="50800" rIns="50800"/>
            <a:lstStyle/>
            <a:p>
              <a:pPr algn="ctr">
                <a:lnSpc>
                  <a:spcPts val="1559"/>
                </a:lnSpc>
              </a:pPr>
            </a:p>
          </p:txBody>
        </p:sp>
      </p:grpSp>
      <p:sp>
        <p:nvSpPr>
          <p:cNvPr name="Freeform 5" id="5"/>
          <p:cNvSpPr/>
          <p:nvPr/>
        </p:nvSpPr>
        <p:spPr>
          <a:xfrm flipH="false" flipV="false" rot="0">
            <a:off x="0" y="4353345"/>
            <a:ext cx="339224" cy="352305"/>
          </a:xfrm>
          <a:custGeom>
            <a:avLst/>
            <a:gdLst/>
            <a:ahLst/>
            <a:cxnLst/>
            <a:rect r="r" b="b" t="t" l="l"/>
            <a:pathLst>
              <a:path h="352305" w="339224">
                <a:moveTo>
                  <a:pt x="0" y="0"/>
                </a:moveTo>
                <a:lnTo>
                  <a:pt x="339224" y="0"/>
                </a:lnTo>
                <a:lnTo>
                  <a:pt x="339224" y="352304"/>
                </a:lnTo>
                <a:lnTo>
                  <a:pt x="0" y="352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9612" y="2470496"/>
            <a:ext cx="516188" cy="220553"/>
          </a:xfrm>
          <a:custGeom>
            <a:avLst/>
            <a:gdLst/>
            <a:ahLst/>
            <a:cxnLst/>
            <a:rect r="r" b="b" t="t" l="l"/>
            <a:pathLst>
              <a:path h="220553" w="516188">
                <a:moveTo>
                  <a:pt x="0" y="0"/>
                </a:moveTo>
                <a:lnTo>
                  <a:pt x="516188" y="0"/>
                </a:lnTo>
                <a:lnTo>
                  <a:pt x="516188" y="220553"/>
                </a:lnTo>
                <a:lnTo>
                  <a:pt x="0" y="2205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586335" y="904927"/>
            <a:ext cx="1037758" cy="1011342"/>
          </a:xfrm>
          <a:custGeom>
            <a:avLst/>
            <a:gdLst/>
            <a:ahLst/>
            <a:cxnLst/>
            <a:rect r="r" b="b" t="t" l="l"/>
            <a:pathLst>
              <a:path h="1011342" w="1037758">
                <a:moveTo>
                  <a:pt x="0" y="0"/>
                </a:moveTo>
                <a:lnTo>
                  <a:pt x="1037758" y="0"/>
                </a:lnTo>
                <a:lnTo>
                  <a:pt x="1037758" y="1011343"/>
                </a:lnTo>
                <a:lnTo>
                  <a:pt x="0" y="10113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9" id="9"/>
          <p:cNvSpPr txBox="true"/>
          <p:nvPr/>
        </p:nvSpPr>
        <p:spPr>
          <a:xfrm rot="0">
            <a:off x="3205092" y="161925"/>
            <a:ext cx="3870226" cy="981075"/>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Customer Dashboard</a:t>
            </a:r>
          </a:p>
          <a:p>
            <a:pPr algn="ctr">
              <a:lnSpc>
                <a:spcPts val="3600"/>
              </a:lnSpc>
              <a:spcBef>
                <a:spcPct val="0"/>
              </a:spcBef>
            </a:pPr>
          </a:p>
        </p:txBody>
      </p:sp>
      <p:sp>
        <p:nvSpPr>
          <p:cNvPr name="TextBox 10" id="10"/>
          <p:cNvSpPr txBox="true"/>
          <p:nvPr/>
        </p:nvSpPr>
        <p:spPr>
          <a:xfrm rot="0">
            <a:off x="297893" y="959830"/>
            <a:ext cx="5814398" cy="1181100"/>
          </a:xfrm>
          <a:prstGeom prst="rect">
            <a:avLst/>
          </a:prstGeom>
        </p:spPr>
        <p:txBody>
          <a:bodyPr anchor="t" rtlCol="false" tIns="0" lIns="0" bIns="0" rIns="0">
            <a:spAutoFit/>
          </a:bodyPr>
          <a:lstStyle/>
          <a:p>
            <a:pPr algn="l">
              <a:lnSpc>
                <a:spcPts val="2399"/>
              </a:lnSpc>
              <a:spcBef>
                <a:spcPct val="0"/>
              </a:spcBef>
            </a:pPr>
            <a:r>
              <a:rPr lang="en-US" b="true" sz="1999">
                <a:solidFill>
                  <a:srgbClr val="FFFFFF"/>
                </a:solidFill>
                <a:latin typeface="Arial Bold"/>
                <a:ea typeface="Arial Bold"/>
                <a:cs typeface="Arial Bold"/>
                <a:sym typeface="Arial Bold"/>
              </a:rPr>
              <a:t>Customer Behavior Summary</a:t>
            </a:r>
          </a:p>
          <a:p>
            <a:pPr algn="l">
              <a:lnSpc>
                <a:spcPts val="1799"/>
              </a:lnSpc>
              <a:spcBef>
                <a:spcPct val="0"/>
              </a:spcBef>
            </a:pPr>
            <a:r>
              <a:rPr lang="en-US" sz="1499">
                <a:solidFill>
                  <a:srgbClr val="FFFFFF"/>
                </a:solidFill>
                <a:latin typeface="Arial"/>
                <a:ea typeface="Arial"/>
                <a:cs typeface="Arial"/>
                <a:sym typeface="Arial"/>
              </a:rPr>
              <a:t>The analyzed client made a total of $437,771, with a profit of $36,907, and the preferred payment method was cash on delivery (COD).</a:t>
            </a:r>
          </a:p>
          <a:p>
            <a:pPr algn="l">
              <a:lnSpc>
                <a:spcPts val="1559"/>
              </a:lnSpc>
              <a:spcBef>
                <a:spcPct val="0"/>
              </a:spcBef>
            </a:pPr>
          </a:p>
        </p:txBody>
      </p:sp>
      <p:sp>
        <p:nvSpPr>
          <p:cNvPr name="TextBox 11" id="11"/>
          <p:cNvSpPr txBox="true"/>
          <p:nvPr/>
        </p:nvSpPr>
        <p:spPr>
          <a:xfrm rot="0">
            <a:off x="810607" y="2432396"/>
            <a:ext cx="8080519" cy="1181100"/>
          </a:xfrm>
          <a:prstGeom prst="rect">
            <a:avLst/>
          </a:prstGeom>
        </p:spPr>
        <p:txBody>
          <a:bodyPr anchor="t" rtlCol="false" tIns="0" lIns="0" bIns="0" rIns="0">
            <a:spAutoFit/>
          </a:bodyPr>
          <a:lstStyle/>
          <a:p>
            <a:pPr algn="l">
              <a:lnSpc>
                <a:spcPts val="2399"/>
              </a:lnSpc>
            </a:pPr>
            <a:r>
              <a:rPr lang="en-US" b="true" sz="1999">
                <a:solidFill>
                  <a:srgbClr val="FFFFFF"/>
                </a:solidFill>
                <a:latin typeface="Arial Bold"/>
                <a:ea typeface="Arial Bold"/>
                <a:cs typeface="Arial Bold"/>
                <a:sym typeface="Arial Bold"/>
              </a:rPr>
              <a:t>Key points</a:t>
            </a:r>
          </a:p>
          <a:p>
            <a:pPr algn="l" marL="323848" indent="-161924" lvl="1">
              <a:lnSpc>
                <a:spcPts val="1799"/>
              </a:lnSpc>
              <a:buFont typeface="Arial"/>
              <a:buChar char="•"/>
            </a:pPr>
            <a:r>
              <a:rPr lang="en-US" sz="1499">
                <a:solidFill>
                  <a:srgbClr val="FFFFFF"/>
                </a:solidFill>
                <a:latin typeface="Arial"/>
                <a:ea typeface="Arial"/>
                <a:cs typeface="Arial"/>
                <a:sym typeface="Arial"/>
              </a:rPr>
              <a:t> Customer Contribution: Analyze each customer's contribution to total sales.</a:t>
            </a:r>
          </a:p>
          <a:p>
            <a:pPr algn="l" marL="323848" indent="-161924" lvl="1">
              <a:lnSpc>
                <a:spcPts val="1799"/>
              </a:lnSpc>
              <a:buFont typeface="Arial"/>
              <a:buChar char="•"/>
            </a:pPr>
            <a:r>
              <a:rPr lang="en-US" sz="1499">
                <a:solidFill>
                  <a:srgbClr val="FFFFFF"/>
                </a:solidFill>
                <a:latin typeface="Arial"/>
                <a:ea typeface="Arial"/>
                <a:cs typeface="Arial"/>
                <a:sym typeface="Arial"/>
              </a:rPr>
              <a:t> Monthly Profit Trends: Track your most profitable periods.</a:t>
            </a:r>
          </a:p>
          <a:p>
            <a:pPr algn="l" marL="323848" indent="-161924" lvl="1">
              <a:lnSpc>
                <a:spcPts val="1799"/>
              </a:lnSpc>
              <a:buFont typeface="Arial"/>
              <a:buChar char="•"/>
            </a:pPr>
            <a:r>
              <a:rPr lang="en-US" sz="1499">
                <a:solidFill>
                  <a:srgbClr val="FFFFFF"/>
                </a:solidFill>
                <a:latin typeface="Arial"/>
                <a:ea typeface="Arial"/>
                <a:cs typeface="Arial"/>
                <a:sym typeface="Arial"/>
              </a:rPr>
              <a:t> Payment Methods: Analyze sales distribution by payment method.</a:t>
            </a:r>
          </a:p>
          <a:p>
            <a:pPr algn="l">
              <a:lnSpc>
                <a:spcPts val="1559"/>
              </a:lnSpc>
              <a:spcBef>
                <a:spcPct val="0"/>
              </a:spcBef>
            </a:pPr>
          </a:p>
        </p:txBody>
      </p:sp>
      <p:sp>
        <p:nvSpPr>
          <p:cNvPr name="TextBox 12" id="12"/>
          <p:cNvSpPr txBox="true"/>
          <p:nvPr/>
        </p:nvSpPr>
        <p:spPr>
          <a:xfrm rot="0">
            <a:off x="426673" y="4491397"/>
            <a:ext cx="9469802" cy="990600"/>
          </a:xfrm>
          <a:prstGeom prst="rect">
            <a:avLst/>
          </a:prstGeom>
        </p:spPr>
        <p:txBody>
          <a:bodyPr anchor="t" rtlCol="false" tIns="0" lIns="0" bIns="0" rIns="0">
            <a:spAutoFit/>
          </a:bodyPr>
          <a:lstStyle/>
          <a:p>
            <a:pPr algn="l">
              <a:lnSpc>
                <a:spcPts val="2399"/>
              </a:lnSpc>
              <a:spcBef>
                <a:spcPct val="0"/>
              </a:spcBef>
            </a:pPr>
            <a:r>
              <a:rPr lang="en-US" b="true" sz="1999">
                <a:solidFill>
                  <a:srgbClr val="193EB0"/>
                </a:solidFill>
                <a:latin typeface="Arial Bold"/>
                <a:ea typeface="Arial Bold"/>
                <a:cs typeface="Arial Bold"/>
                <a:sym typeface="Arial Bold"/>
              </a:rPr>
              <a:t>Insights gained</a:t>
            </a:r>
          </a:p>
          <a:p>
            <a:pPr algn="l" marL="323848" indent="-161924" lvl="1">
              <a:lnSpc>
                <a:spcPts val="1799"/>
              </a:lnSpc>
              <a:buFont typeface="Arial"/>
              <a:buChar char="•"/>
            </a:pPr>
            <a:r>
              <a:rPr lang="en-US" sz="1499">
                <a:solidFill>
                  <a:srgbClr val="193EB0"/>
                </a:solidFill>
                <a:latin typeface="Arial"/>
                <a:ea typeface="Arial"/>
                <a:cs typeface="Arial"/>
                <a:sym typeface="Arial"/>
              </a:rPr>
              <a:t>Customers' preference for cash on delivery (COD) and credit cards underscores the importance of providing diverse payment options. Fluctuating monthly profits also call for developing seasonal marketing strategies to improve sales during less active periods</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grpSp>
        <p:nvGrpSpPr>
          <p:cNvPr name="Group 2" id="2"/>
          <p:cNvGrpSpPr/>
          <p:nvPr/>
        </p:nvGrpSpPr>
        <p:grpSpPr>
          <a:xfrm rot="0">
            <a:off x="-147667" y="4174423"/>
            <a:ext cx="10075732" cy="1259997"/>
            <a:chOff x="0" y="0"/>
            <a:chExt cx="3980536" cy="497777"/>
          </a:xfrm>
        </p:grpSpPr>
        <p:sp>
          <p:nvSpPr>
            <p:cNvPr name="Freeform 3" id="3"/>
            <p:cNvSpPr/>
            <p:nvPr/>
          </p:nvSpPr>
          <p:spPr>
            <a:xfrm flipH="false" flipV="false" rot="0">
              <a:off x="0" y="0"/>
              <a:ext cx="3980536" cy="497776"/>
            </a:xfrm>
            <a:custGeom>
              <a:avLst/>
              <a:gdLst/>
              <a:ahLst/>
              <a:cxnLst/>
              <a:rect r="r" b="b" t="t" l="l"/>
              <a:pathLst>
                <a:path h="497776" w="3980536">
                  <a:moveTo>
                    <a:pt x="8452" y="0"/>
                  </a:moveTo>
                  <a:lnTo>
                    <a:pt x="3972084" y="0"/>
                  </a:lnTo>
                  <a:cubicBezTo>
                    <a:pt x="3976752" y="0"/>
                    <a:pt x="3980536" y="3784"/>
                    <a:pt x="3980536" y="8452"/>
                  </a:cubicBezTo>
                  <a:lnTo>
                    <a:pt x="3980536" y="489324"/>
                  </a:lnTo>
                  <a:cubicBezTo>
                    <a:pt x="3980536" y="493992"/>
                    <a:pt x="3976752" y="497776"/>
                    <a:pt x="3972084" y="497776"/>
                  </a:cubicBezTo>
                  <a:lnTo>
                    <a:pt x="8452" y="497776"/>
                  </a:lnTo>
                  <a:cubicBezTo>
                    <a:pt x="6210" y="497776"/>
                    <a:pt x="4061" y="496886"/>
                    <a:pt x="2476" y="495301"/>
                  </a:cubicBezTo>
                  <a:cubicBezTo>
                    <a:pt x="890" y="493716"/>
                    <a:pt x="0" y="491566"/>
                    <a:pt x="0" y="489324"/>
                  </a:cubicBezTo>
                  <a:lnTo>
                    <a:pt x="0" y="8452"/>
                  </a:lnTo>
                  <a:cubicBezTo>
                    <a:pt x="0" y="6210"/>
                    <a:pt x="890" y="4061"/>
                    <a:pt x="2476" y="2476"/>
                  </a:cubicBezTo>
                  <a:cubicBezTo>
                    <a:pt x="4061" y="890"/>
                    <a:pt x="6210" y="0"/>
                    <a:pt x="8452" y="0"/>
                  </a:cubicBezTo>
                  <a:close/>
                </a:path>
              </a:pathLst>
            </a:custGeom>
            <a:solidFill>
              <a:srgbClr val="FFFFFF"/>
            </a:solidFill>
          </p:spPr>
        </p:sp>
        <p:sp>
          <p:nvSpPr>
            <p:cNvPr name="TextBox 4" id="4"/>
            <p:cNvSpPr txBox="true"/>
            <p:nvPr/>
          </p:nvSpPr>
          <p:spPr>
            <a:xfrm>
              <a:off x="0" y="-28575"/>
              <a:ext cx="3980536" cy="526352"/>
            </a:xfrm>
            <a:prstGeom prst="rect">
              <a:avLst/>
            </a:prstGeom>
          </p:spPr>
          <p:txBody>
            <a:bodyPr anchor="ctr" rtlCol="false" tIns="50800" lIns="50800" bIns="50800" rIns="50800"/>
            <a:lstStyle/>
            <a:p>
              <a:pPr algn="ctr">
                <a:lnSpc>
                  <a:spcPts val="1559"/>
                </a:lnSpc>
              </a:pPr>
            </a:p>
            <a:p>
              <a:pPr algn="ctr">
                <a:lnSpc>
                  <a:spcPts val="1559"/>
                </a:lnSpc>
              </a:pPr>
            </a:p>
          </p:txBody>
        </p:sp>
      </p:grpSp>
      <p:sp>
        <p:nvSpPr>
          <p:cNvPr name="Freeform 5" id="5"/>
          <p:cNvSpPr/>
          <p:nvPr/>
        </p:nvSpPr>
        <p:spPr>
          <a:xfrm flipH="false" flipV="false" rot="0">
            <a:off x="0" y="4246673"/>
            <a:ext cx="339224" cy="352305"/>
          </a:xfrm>
          <a:custGeom>
            <a:avLst/>
            <a:gdLst/>
            <a:ahLst/>
            <a:cxnLst/>
            <a:rect r="r" b="b" t="t" l="l"/>
            <a:pathLst>
              <a:path h="352305" w="339224">
                <a:moveTo>
                  <a:pt x="0" y="0"/>
                </a:moveTo>
                <a:lnTo>
                  <a:pt x="339224" y="0"/>
                </a:lnTo>
                <a:lnTo>
                  <a:pt x="339224" y="352304"/>
                </a:lnTo>
                <a:lnTo>
                  <a:pt x="0" y="352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14503" y="2541698"/>
            <a:ext cx="516188" cy="220553"/>
          </a:xfrm>
          <a:custGeom>
            <a:avLst/>
            <a:gdLst/>
            <a:ahLst/>
            <a:cxnLst/>
            <a:rect r="r" b="b" t="t" l="l"/>
            <a:pathLst>
              <a:path h="220553" w="516188">
                <a:moveTo>
                  <a:pt x="0" y="0"/>
                </a:moveTo>
                <a:lnTo>
                  <a:pt x="516188" y="0"/>
                </a:lnTo>
                <a:lnTo>
                  <a:pt x="516188" y="220553"/>
                </a:lnTo>
                <a:lnTo>
                  <a:pt x="0" y="2205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8" id="8"/>
          <p:cNvSpPr txBox="true"/>
          <p:nvPr/>
        </p:nvSpPr>
        <p:spPr>
          <a:xfrm rot="0">
            <a:off x="2948661" y="161925"/>
            <a:ext cx="4383088" cy="1438275"/>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Online Sal</a:t>
            </a:r>
            <a:r>
              <a:rPr lang="en-US" b="true" sz="3000">
                <a:solidFill>
                  <a:srgbClr val="FFFFFF"/>
                </a:solidFill>
                <a:latin typeface="Arial Bold"/>
                <a:ea typeface="Arial Bold"/>
                <a:cs typeface="Arial Bold"/>
                <a:sym typeface="Arial Bold"/>
              </a:rPr>
              <a:t>es Dashboard</a:t>
            </a:r>
          </a:p>
          <a:p>
            <a:pPr algn="ctr">
              <a:lnSpc>
                <a:spcPts val="3600"/>
              </a:lnSpc>
              <a:spcBef>
                <a:spcPct val="0"/>
              </a:spcBef>
            </a:pPr>
          </a:p>
          <a:p>
            <a:pPr algn="ctr">
              <a:lnSpc>
                <a:spcPts val="3600"/>
              </a:lnSpc>
              <a:spcBef>
                <a:spcPct val="0"/>
              </a:spcBef>
            </a:pPr>
          </a:p>
        </p:txBody>
      </p:sp>
      <p:sp>
        <p:nvSpPr>
          <p:cNvPr name="TextBox 9" id="9"/>
          <p:cNvSpPr txBox="true"/>
          <p:nvPr/>
        </p:nvSpPr>
        <p:spPr>
          <a:xfrm rot="0">
            <a:off x="830691" y="1147763"/>
            <a:ext cx="5814398" cy="876300"/>
          </a:xfrm>
          <a:prstGeom prst="rect">
            <a:avLst/>
          </a:prstGeom>
        </p:spPr>
        <p:txBody>
          <a:bodyPr anchor="t" rtlCol="false" tIns="0" lIns="0" bIns="0" rIns="0">
            <a:spAutoFit/>
          </a:bodyPr>
          <a:lstStyle/>
          <a:p>
            <a:pPr algn="l">
              <a:lnSpc>
                <a:spcPts val="1799"/>
              </a:lnSpc>
              <a:spcBef>
                <a:spcPct val="0"/>
              </a:spcBef>
            </a:pPr>
            <a:r>
              <a:rPr lang="en-US" b="true" sz="1499">
                <a:solidFill>
                  <a:srgbClr val="FFFFFF"/>
                </a:solidFill>
                <a:latin typeface="Arial Bold"/>
                <a:ea typeface="Arial Bold"/>
                <a:cs typeface="Arial Bold"/>
                <a:sym typeface="Arial Bold"/>
              </a:rPr>
              <a:t>M</a:t>
            </a:r>
            <a:r>
              <a:rPr lang="en-US" b="true" sz="1499">
                <a:solidFill>
                  <a:srgbClr val="FFFFFF"/>
                </a:solidFill>
                <a:latin typeface="Arial Bold"/>
                <a:ea typeface="Arial Bold"/>
                <a:cs typeface="Arial Bold"/>
                <a:sym typeface="Arial Bold"/>
              </a:rPr>
              <a:t>ain features</a:t>
            </a:r>
          </a:p>
          <a:p>
            <a:pPr algn="l" marL="323848" indent="-161924" lvl="1">
              <a:lnSpc>
                <a:spcPts val="1799"/>
              </a:lnSpc>
              <a:spcBef>
                <a:spcPct val="0"/>
              </a:spcBef>
              <a:buFont typeface="Arial"/>
              <a:buChar char="•"/>
            </a:pPr>
            <a:r>
              <a:rPr lang="en-US" sz="1499">
                <a:solidFill>
                  <a:srgbClr val="FFFFFF"/>
                </a:solidFill>
                <a:latin typeface="Arial"/>
                <a:ea typeface="Arial"/>
                <a:cs typeface="Arial"/>
                <a:sym typeface="Arial"/>
              </a:rPr>
              <a:t> Multiple filters: filter by category, subcategory, and state.</a:t>
            </a:r>
          </a:p>
          <a:p>
            <a:pPr algn="l" marL="323848" indent="-161924" lvl="1">
              <a:lnSpc>
                <a:spcPts val="1799"/>
              </a:lnSpc>
              <a:spcBef>
                <a:spcPct val="0"/>
              </a:spcBef>
              <a:buFont typeface="Arial"/>
              <a:buChar char="•"/>
            </a:pPr>
            <a:r>
              <a:rPr lang="en-US" sz="1499">
                <a:solidFill>
                  <a:srgbClr val="FFFFFF"/>
                </a:solidFill>
                <a:latin typeface="Arial"/>
                <a:ea typeface="Arial"/>
                <a:cs typeface="Arial"/>
                <a:sym typeface="Arial"/>
              </a:rPr>
              <a:t> Geographic Analysis: Sales Distribution Map by State.</a:t>
            </a:r>
          </a:p>
          <a:p>
            <a:pPr algn="l">
              <a:lnSpc>
                <a:spcPts val="1559"/>
              </a:lnSpc>
              <a:spcBef>
                <a:spcPct val="0"/>
              </a:spcBef>
            </a:pPr>
          </a:p>
        </p:txBody>
      </p:sp>
      <p:sp>
        <p:nvSpPr>
          <p:cNvPr name="TextBox 10" id="10"/>
          <p:cNvSpPr txBox="true"/>
          <p:nvPr/>
        </p:nvSpPr>
        <p:spPr>
          <a:xfrm rot="0">
            <a:off x="907978" y="2503598"/>
            <a:ext cx="8080519" cy="1181100"/>
          </a:xfrm>
          <a:prstGeom prst="rect">
            <a:avLst/>
          </a:prstGeom>
        </p:spPr>
        <p:txBody>
          <a:bodyPr anchor="t" rtlCol="false" tIns="0" lIns="0" bIns="0" rIns="0">
            <a:spAutoFit/>
          </a:bodyPr>
          <a:lstStyle/>
          <a:p>
            <a:pPr algn="l">
              <a:lnSpc>
                <a:spcPts val="2399"/>
              </a:lnSpc>
            </a:pPr>
            <a:r>
              <a:rPr lang="en-US" b="true" sz="1999">
                <a:solidFill>
                  <a:srgbClr val="FFFFFF"/>
                </a:solidFill>
                <a:latin typeface="Arial Bold"/>
                <a:ea typeface="Arial Bold"/>
                <a:cs typeface="Arial Bold"/>
                <a:sym typeface="Arial Bold"/>
              </a:rPr>
              <a:t>Key points</a:t>
            </a:r>
          </a:p>
          <a:p>
            <a:pPr algn="l" marL="323848" indent="-161924" lvl="1">
              <a:lnSpc>
                <a:spcPts val="1799"/>
              </a:lnSpc>
              <a:buFont typeface="Arial"/>
              <a:buChar char="•"/>
            </a:pPr>
            <a:r>
              <a:rPr lang="en-US" sz="1499">
                <a:solidFill>
                  <a:srgbClr val="FFFFFF"/>
                </a:solidFill>
                <a:latin typeface="Arial"/>
                <a:ea typeface="Arial"/>
                <a:cs typeface="Arial"/>
                <a:sym typeface="Arial"/>
              </a:rPr>
              <a:t> Customer Contribution: Analyze each customer's contribution to total sales.</a:t>
            </a:r>
          </a:p>
          <a:p>
            <a:pPr algn="l" marL="323848" indent="-161924" lvl="1">
              <a:lnSpc>
                <a:spcPts val="1799"/>
              </a:lnSpc>
              <a:buFont typeface="Arial"/>
              <a:buChar char="•"/>
            </a:pPr>
            <a:r>
              <a:rPr lang="en-US" sz="1499">
                <a:solidFill>
                  <a:srgbClr val="FFFFFF"/>
                </a:solidFill>
                <a:latin typeface="Arial"/>
                <a:ea typeface="Arial"/>
                <a:cs typeface="Arial"/>
                <a:sym typeface="Arial"/>
              </a:rPr>
              <a:t> Monthly Profit Trends: Track your most profitable periods.</a:t>
            </a:r>
          </a:p>
          <a:p>
            <a:pPr algn="l" marL="323848" indent="-161924" lvl="1">
              <a:lnSpc>
                <a:spcPts val="1799"/>
              </a:lnSpc>
              <a:buFont typeface="Arial"/>
              <a:buChar char="•"/>
            </a:pPr>
            <a:r>
              <a:rPr lang="en-US" sz="1499">
                <a:solidFill>
                  <a:srgbClr val="FFFFFF"/>
                </a:solidFill>
                <a:latin typeface="Arial"/>
                <a:ea typeface="Arial"/>
                <a:cs typeface="Arial"/>
                <a:sym typeface="Arial"/>
              </a:rPr>
              <a:t> Payment Methods: Analyze sales distribution by payment method.</a:t>
            </a:r>
          </a:p>
          <a:p>
            <a:pPr algn="l">
              <a:lnSpc>
                <a:spcPts val="1559"/>
              </a:lnSpc>
              <a:spcBef>
                <a:spcPct val="0"/>
              </a:spcBef>
            </a:pPr>
          </a:p>
        </p:txBody>
      </p:sp>
      <p:sp>
        <p:nvSpPr>
          <p:cNvPr name="TextBox 11" id="11"/>
          <p:cNvSpPr txBox="true"/>
          <p:nvPr/>
        </p:nvSpPr>
        <p:spPr>
          <a:xfrm rot="0">
            <a:off x="378855" y="4032897"/>
            <a:ext cx="9549210" cy="1504950"/>
          </a:xfrm>
          <a:prstGeom prst="rect">
            <a:avLst/>
          </a:prstGeom>
        </p:spPr>
        <p:txBody>
          <a:bodyPr anchor="t" rtlCol="false" tIns="0" lIns="0" bIns="0" rIns="0">
            <a:spAutoFit/>
          </a:bodyPr>
          <a:lstStyle/>
          <a:p>
            <a:pPr algn="l">
              <a:lnSpc>
                <a:spcPts val="2399"/>
              </a:lnSpc>
            </a:pPr>
          </a:p>
          <a:p>
            <a:pPr algn="l">
              <a:lnSpc>
                <a:spcPts val="2399"/>
              </a:lnSpc>
            </a:pPr>
            <a:r>
              <a:rPr lang="en-US" b="true" sz="1999">
                <a:solidFill>
                  <a:srgbClr val="193EB0"/>
                </a:solidFill>
                <a:latin typeface="Arial Bold"/>
                <a:ea typeface="Arial Bold"/>
                <a:cs typeface="Arial Bold"/>
                <a:sym typeface="Arial Bold"/>
              </a:rPr>
              <a:t>Insights gained</a:t>
            </a:r>
          </a:p>
          <a:p>
            <a:pPr algn="l" marL="323848" indent="-161924" lvl="1">
              <a:lnSpc>
                <a:spcPts val="1799"/>
              </a:lnSpc>
              <a:buFont typeface="Arial"/>
              <a:buChar char="•"/>
            </a:pPr>
            <a:r>
              <a:rPr lang="en-US" sz="1499">
                <a:solidFill>
                  <a:srgbClr val="193EB0"/>
                </a:solidFill>
                <a:latin typeface="Arial"/>
                <a:ea typeface="Arial"/>
                <a:cs typeface="Arial"/>
                <a:sym typeface="Arial"/>
              </a:rPr>
              <a:t>Data shows that the furniture category represents the largest portion of sales (55%), indicating the importance of focusing on this category in marketing strategies. Geographic analysis also shows that sales are concentrated in specific regions, presenting an opportunity for expansion into less active areas.</a:t>
            </a:r>
          </a:p>
          <a:p>
            <a:pPr algn="l">
              <a:lnSpc>
                <a:spcPts val="1799"/>
              </a:lnSpc>
            </a:pPr>
          </a:p>
        </p:txBody>
      </p:sp>
      <p:sp>
        <p:nvSpPr>
          <p:cNvPr name="Freeform 12" id="12"/>
          <p:cNvSpPr/>
          <p:nvPr/>
        </p:nvSpPr>
        <p:spPr>
          <a:xfrm flipH="false" flipV="false" rot="0">
            <a:off x="7950739" y="1176337"/>
            <a:ext cx="1037758" cy="1011342"/>
          </a:xfrm>
          <a:custGeom>
            <a:avLst/>
            <a:gdLst/>
            <a:ahLst/>
            <a:cxnLst/>
            <a:rect r="r" b="b" t="t" l="l"/>
            <a:pathLst>
              <a:path h="1011342" w="1037758">
                <a:moveTo>
                  <a:pt x="0" y="0"/>
                </a:moveTo>
                <a:lnTo>
                  <a:pt x="1037758" y="0"/>
                </a:lnTo>
                <a:lnTo>
                  <a:pt x="1037758" y="1011343"/>
                </a:lnTo>
                <a:lnTo>
                  <a:pt x="0" y="10113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grpSp>
        <p:nvGrpSpPr>
          <p:cNvPr name="Group 2" id="2"/>
          <p:cNvGrpSpPr/>
          <p:nvPr/>
        </p:nvGrpSpPr>
        <p:grpSpPr>
          <a:xfrm rot="0">
            <a:off x="279005" y="3131913"/>
            <a:ext cx="8514330" cy="2485635"/>
            <a:chOff x="0" y="0"/>
            <a:chExt cx="3363686" cy="981979"/>
          </a:xfrm>
        </p:grpSpPr>
        <p:sp>
          <p:nvSpPr>
            <p:cNvPr name="Freeform 3" id="3"/>
            <p:cNvSpPr/>
            <p:nvPr/>
          </p:nvSpPr>
          <p:spPr>
            <a:xfrm flipH="false" flipV="false" rot="0">
              <a:off x="0" y="0"/>
              <a:ext cx="3363686" cy="981979"/>
            </a:xfrm>
            <a:custGeom>
              <a:avLst/>
              <a:gdLst/>
              <a:ahLst/>
              <a:cxnLst/>
              <a:rect r="r" b="b" t="t" l="l"/>
              <a:pathLst>
                <a:path h="981979" w="3363686">
                  <a:moveTo>
                    <a:pt x="10002" y="0"/>
                  </a:moveTo>
                  <a:lnTo>
                    <a:pt x="3353684" y="0"/>
                  </a:lnTo>
                  <a:cubicBezTo>
                    <a:pt x="3359208" y="0"/>
                    <a:pt x="3363686" y="4478"/>
                    <a:pt x="3363686" y="10002"/>
                  </a:cubicBezTo>
                  <a:lnTo>
                    <a:pt x="3363686" y="971977"/>
                  </a:lnTo>
                  <a:cubicBezTo>
                    <a:pt x="3363686" y="974630"/>
                    <a:pt x="3362632" y="977174"/>
                    <a:pt x="3360756" y="979050"/>
                  </a:cubicBezTo>
                  <a:cubicBezTo>
                    <a:pt x="3358881" y="980925"/>
                    <a:pt x="3356337" y="981979"/>
                    <a:pt x="3353684" y="981979"/>
                  </a:cubicBezTo>
                  <a:lnTo>
                    <a:pt x="10002" y="981979"/>
                  </a:lnTo>
                  <a:cubicBezTo>
                    <a:pt x="4478" y="981979"/>
                    <a:pt x="0" y="977501"/>
                    <a:pt x="0" y="971977"/>
                  </a:cubicBezTo>
                  <a:lnTo>
                    <a:pt x="0" y="10002"/>
                  </a:lnTo>
                  <a:cubicBezTo>
                    <a:pt x="0" y="4478"/>
                    <a:pt x="4478" y="0"/>
                    <a:pt x="10002" y="0"/>
                  </a:cubicBezTo>
                  <a:close/>
                </a:path>
              </a:pathLst>
            </a:custGeom>
            <a:solidFill>
              <a:srgbClr val="FFFFFF"/>
            </a:solidFill>
          </p:spPr>
        </p:sp>
        <p:sp>
          <p:nvSpPr>
            <p:cNvPr name="TextBox 4" id="4"/>
            <p:cNvSpPr txBox="true"/>
            <p:nvPr/>
          </p:nvSpPr>
          <p:spPr>
            <a:xfrm>
              <a:off x="0" y="-28575"/>
              <a:ext cx="3363686" cy="1010554"/>
            </a:xfrm>
            <a:prstGeom prst="rect">
              <a:avLst/>
            </a:prstGeom>
          </p:spPr>
          <p:txBody>
            <a:bodyPr anchor="ctr" rtlCol="false" tIns="50800" lIns="50800" bIns="50800" rIns="50800"/>
            <a:lstStyle/>
            <a:p>
              <a:pPr algn="ctr">
                <a:lnSpc>
                  <a:spcPts val="1559"/>
                </a:lnSpc>
              </a:pPr>
            </a:p>
          </p:txBody>
        </p:sp>
      </p:grpSp>
      <p:pic>
        <p:nvPicPr>
          <p:cNvPr name="Picture 5" id="5"/>
          <p:cNvPicPr>
            <a:picLocks noChangeAspect="true"/>
          </p:cNvPicPr>
          <p:nvPr/>
        </p:nvPicPr>
        <p:blipFill>
          <a:blip r:embed="rId3"/>
          <a:srcRect l="0" t="0" r="0" b="0"/>
          <a:stretch>
            <a:fillRect/>
          </a:stretch>
        </p:blipFill>
        <p:spPr>
          <a:xfrm flipH="false" flipV="false" rot="0">
            <a:off x="8075718" y="2309186"/>
            <a:ext cx="1444921" cy="1119814"/>
          </a:xfrm>
          <a:prstGeom prst="rect">
            <a:avLst/>
          </a:prstGeom>
          <a:ln cap="sq">
            <a:noFill/>
            <a:prstDash val="solid"/>
          </a:ln>
        </p:spPr>
      </p:pic>
      <p:sp>
        <p:nvSpPr>
          <p:cNvPr name="TextBox 6" id="6"/>
          <p:cNvSpPr txBox="true"/>
          <p:nvPr/>
        </p:nvSpPr>
        <p:spPr>
          <a:xfrm rot="0">
            <a:off x="572597" y="6298221"/>
            <a:ext cx="2888788" cy="257159"/>
          </a:xfrm>
          <a:prstGeom prst="rect">
            <a:avLst/>
          </a:prstGeom>
        </p:spPr>
        <p:txBody>
          <a:bodyPr anchor="t" rtlCol="false" tIns="0" lIns="0" bIns="0" rIns="0">
            <a:spAutoFit/>
          </a:bodyPr>
          <a:lstStyle/>
          <a:p>
            <a:pPr algn="l">
              <a:lnSpc>
                <a:spcPts val="1560"/>
              </a:lnSpc>
            </a:pPr>
            <a:r>
              <a:rPr lang="en-US" sz="1300">
                <a:solidFill>
                  <a:srgbClr val="FFFFFF"/>
                </a:solidFill>
                <a:latin typeface="Arial"/>
                <a:ea typeface="Arial"/>
                <a:cs typeface="Arial"/>
                <a:sym typeface="Arial"/>
              </a:rPr>
              <a:t>Samsung Innovation Campus</a:t>
            </a:r>
          </a:p>
        </p:txBody>
      </p:sp>
      <p:sp>
        <p:nvSpPr>
          <p:cNvPr name="TextBox 7" id="7"/>
          <p:cNvSpPr txBox="true"/>
          <p:nvPr/>
        </p:nvSpPr>
        <p:spPr>
          <a:xfrm rot="0">
            <a:off x="2019031" y="161925"/>
            <a:ext cx="6242348" cy="1895475"/>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Conclusion and recomm</a:t>
            </a:r>
            <a:r>
              <a:rPr lang="en-US" b="true" sz="3000">
                <a:solidFill>
                  <a:srgbClr val="FFFFFF"/>
                </a:solidFill>
                <a:latin typeface="Arial Bold"/>
                <a:ea typeface="Arial Bold"/>
                <a:cs typeface="Arial Bold"/>
                <a:sym typeface="Arial Bold"/>
              </a:rPr>
              <a:t>endations</a:t>
            </a:r>
          </a:p>
          <a:p>
            <a:pPr algn="ctr">
              <a:lnSpc>
                <a:spcPts val="3600"/>
              </a:lnSpc>
              <a:spcBef>
                <a:spcPct val="0"/>
              </a:spcBef>
            </a:pPr>
          </a:p>
          <a:p>
            <a:pPr algn="ctr">
              <a:lnSpc>
                <a:spcPts val="3600"/>
              </a:lnSpc>
              <a:spcBef>
                <a:spcPct val="0"/>
              </a:spcBef>
            </a:pPr>
          </a:p>
          <a:p>
            <a:pPr algn="ctr">
              <a:lnSpc>
                <a:spcPts val="3600"/>
              </a:lnSpc>
              <a:spcBef>
                <a:spcPct val="0"/>
              </a:spcBef>
            </a:pPr>
          </a:p>
        </p:txBody>
      </p:sp>
      <p:sp>
        <p:nvSpPr>
          <p:cNvPr name="TextBox 8" id="8"/>
          <p:cNvSpPr txBox="true"/>
          <p:nvPr/>
        </p:nvSpPr>
        <p:spPr>
          <a:xfrm rot="0">
            <a:off x="279005" y="1104900"/>
            <a:ext cx="8931670" cy="1866900"/>
          </a:xfrm>
          <a:prstGeom prst="rect">
            <a:avLst/>
          </a:prstGeom>
        </p:spPr>
        <p:txBody>
          <a:bodyPr anchor="t" rtlCol="false" tIns="0" lIns="0" bIns="0" rIns="0">
            <a:spAutoFit/>
          </a:bodyPr>
          <a:lstStyle/>
          <a:p>
            <a:pPr algn="l">
              <a:lnSpc>
                <a:spcPts val="1800"/>
              </a:lnSpc>
              <a:spcBef>
                <a:spcPct val="0"/>
              </a:spcBef>
            </a:pPr>
            <a:r>
              <a:rPr lang="en-US" b="true" sz="1500">
                <a:solidFill>
                  <a:srgbClr val="FFFFFF"/>
                </a:solidFill>
                <a:latin typeface="Arial Bold"/>
                <a:ea typeface="Arial Bold"/>
                <a:cs typeface="Arial Bold"/>
                <a:sym typeface="Arial Bold"/>
              </a:rPr>
              <a:t>M</a:t>
            </a:r>
            <a:r>
              <a:rPr lang="en-US" b="true" sz="1500">
                <a:solidFill>
                  <a:srgbClr val="FFFFFF"/>
                </a:solidFill>
                <a:latin typeface="Arial Bold"/>
                <a:ea typeface="Arial Bold"/>
                <a:cs typeface="Arial Bold"/>
                <a:sym typeface="Arial Bold"/>
              </a:rPr>
              <a:t>ain results</a:t>
            </a:r>
          </a:p>
          <a:p>
            <a:pPr algn="l" marL="323850" indent="-161925" lvl="1">
              <a:lnSpc>
                <a:spcPts val="1800"/>
              </a:lnSpc>
              <a:spcBef>
                <a:spcPct val="0"/>
              </a:spcBef>
              <a:buFont typeface="Arial"/>
              <a:buChar char="•"/>
            </a:pPr>
            <a:r>
              <a:rPr lang="en-US" sz="1500">
                <a:solidFill>
                  <a:srgbClr val="FFFFFF"/>
                </a:solidFill>
                <a:latin typeface="Arial"/>
                <a:ea typeface="Arial"/>
                <a:cs typeface="Arial"/>
                <a:sym typeface="Arial"/>
              </a:rPr>
              <a:t>The furniture category represents the largest percentage of sales, followed by electronics and then clothing.</a:t>
            </a:r>
          </a:p>
          <a:p>
            <a:pPr algn="l" marL="323850" indent="-161925" lvl="1">
              <a:lnSpc>
                <a:spcPts val="1800"/>
              </a:lnSpc>
              <a:spcBef>
                <a:spcPct val="0"/>
              </a:spcBef>
              <a:buFont typeface="Arial"/>
              <a:buChar char="•"/>
            </a:pPr>
            <a:r>
              <a:rPr lang="en-US" sz="1500">
                <a:solidFill>
                  <a:srgbClr val="FFFFFF"/>
                </a:solidFill>
                <a:latin typeface="Arial"/>
                <a:ea typeface="Arial"/>
                <a:cs typeface="Arial"/>
                <a:sym typeface="Arial"/>
              </a:rPr>
              <a:t>Cash on Delivery (COD) is the preferred method for customers.</a:t>
            </a:r>
          </a:p>
          <a:p>
            <a:pPr algn="l" marL="323850" indent="-161925" lvl="1">
              <a:lnSpc>
                <a:spcPts val="1800"/>
              </a:lnSpc>
              <a:spcBef>
                <a:spcPct val="0"/>
              </a:spcBef>
              <a:buFont typeface="Arial"/>
              <a:buChar char="•"/>
            </a:pPr>
            <a:r>
              <a:rPr lang="en-US" sz="1500">
                <a:solidFill>
                  <a:srgbClr val="FFFFFF"/>
                </a:solidFill>
                <a:latin typeface="Arial"/>
                <a:ea typeface="Arial"/>
                <a:cs typeface="Arial"/>
                <a:sym typeface="Arial"/>
              </a:rPr>
              <a:t>There</a:t>
            </a:r>
            <a:r>
              <a:rPr lang="en-US" sz="1500">
                <a:solidFill>
                  <a:srgbClr val="FFFFFF"/>
                </a:solidFill>
                <a:latin typeface="Arial"/>
                <a:ea typeface="Arial"/>
                <a:cs typeface="Arial"/>
                <a:sym typeface="Arial"/>
              </a:rPr>
              <a:t> is a variation in profitability between different categories, with electronics generating a higher profit margin.</a:t>
            </a:r>
          </a:p>
          <a:p>
            <a:pPr algn="l">
              <a:lnSpc>
                <a:spcPts val="1800"/>
              </a:lnSpc>
              <a:spcBef>
                <a:spcPct val="0"/>
              </a:spcBef>
            </a:pPr>
          </a:p>
          <a:p>
            <a:pPr algn="l">
              <a:lnSpc>
                <a:spcPts val="1800"/>
              </a:lnSpc>
              <a:spcBef>
                <a:spcPct val="0"/>
              </a:spcBef>
            </a:pPr>
          </a:p>
        </p:txBody>
      </p:sp>
      <p:sp>
        <p:nvSpPr>
          <p:cNvPr name="TextBox 9" id="9"/>
          <p:cNvSpPr txBox="true"/>
          <p:nvPr/>
        </p:nvSpPr>
        <p:spPr>
          <a:xfrm rot="0">
            <a:off x="382372" y="3093813"/>
            <a:ext cx="8080519" cy="2781300"/>
          </a:xfrm>
          <a:prstGeom prst="rect">
            <a:avLst/>
          </a:prstGeom>
        </p:spPr>
        <p:txBody>
          <a:bodyPr anchor="t" rtlCol="false" tIns="0" lIns="0" bIns="0" rIns="0">
            <a:spAutoFit/>
          </a:bodyPr>
          <a:lstStyle/>
          <a:p>
            <a:pPr algn="l">
              <a:lnSpc>
                <a:spcPts val="1800"/>
              </a:lnSpc>
            </a:pPr>
            <a:r>
              <a:rPr lang="en-US" sz="1500" b="true">
                <a:solidFill>
                  <a:srgbClr val="193EB0"/>
                </a:solidFill>
                <a:latin typeface="Arial Bold"/>
                <a:ea typeface="Arial Bold"/>
                <a:cs typeface="Arial Bold"/>
                <a:sym typeface="Arial Bold"/>
              </a:rPr>
              <a:t>R</a:t>
            </a:r>
            <a:r>
              <a:rPr lang="en-US" b="true" sz="1500">
                <a:solidFill>
                  <a:srgbClr val="193EB0"/>
                </a:solidFill>
                <a:latin typeface="Arial Bold"/>
                <a:ea typeface="Arial Bold"/>
                <a:cs typeface="Arial Bold"/>
                <a:sym typeface="Arial Bold"/>
              </a:rPr>
              <a:t>ecommendations</a:t>
            </a:r>
          </a:p>
          <a:p>
            <a:pPr algn="l">
              <a:lnSpc>
                <a:spcPts val="1800"/>
              </a:lnSpc>
            </a:pPr>
            <a:r>
              <a:rPr lang="en-US" b="true" sz="1500">
                <a:solidFill>
                  <a:srgbClr val="193EB0"/>
                </a:solidFill>
                <a:latin typeface="Arial Bold"/>
                <a:ea typeface="Arial Bold"/>
                <a:cs typeface="Arial Bold"/>
                <a:sym typeface="Arial Bold"/>
              </a:rPr>
              <a:t>     I</a:t>
            </a:r>
            <a:r>
              <a:rPr lang="en-US" b="true" sz="1500">
                <a:solidFill>
                  <a:srgbClr val="193EB0"/>
                </a:solidFill>
                <a:latin typeface="Arial Bold"/>
                <a:ea typeface="Arial Bold"/>
                <a:cs typeface="Arial Bold"/>
                <a:sym typeface="Arial Bold"/>
              </a:rPr>
              <a:t>mprove inventory strategy</a:t>
            </a:r>
          </a:p>
          <a:p>
            <a:pPr algn="l" marL="323850" indent="-161925" lvl="1">
              <a:lnSpc>
                <a:spcPts val="1800"/>
              </a:lnSpc>
              <a:buFont typeface="Arial"/>
              <a:buChar char="•"/>
            </a:pPr>
            <a:r>
              <a:rPr lang="en-US" sz="1500">
                <a:solidFill>
                  <a:srgbClr val="193EB0"/>
                </a:solidFill>
                <a:latin typeface="Arial"/>
                <a:ea typeface="Arial"/>
                <a:cs typeface="Arial"/>
                <a:sym typeface="Arial"/>
              </a:rPr>
              <a:t>Focus on higher-margin products and improve inventory management for less profitable products.</a:t>
            </a:r>
          </a:p>
          <a:p>
            <a:pPr algn="l">
              <a:lnSpc>
                <a:spcPts val="1800"/>
              </a:lnSpc>
            </a:pPr>
            <a:r>
              <a:rPr lang="en-US" b="true" sz="1500">
                <a:solidFill>
                  <a:srgbClr val="193EB0"/>
                </a:solidFill>
                <a:latin typeface="Arial Bold"/>
                <a:ea typeface="Arial Bold"/>
                <a:cs typeface="Arial Bold"/>
                <a:sym typeface="Arial Bold"/>
              </a:rPr>
              <a:t>     Developing marketing strategies</a:t>
            </a:r>
          </a:p>
          <a:p>
            <a:pPr algn="l" marL="323850" indent="-161925" lvl="1">
              <a:lnSpc>
                <a:spcPts val="1800"/>
              </a:lnSpc>
              <a:buFont typeface="Arial"/>
              <a:buChar char="•"/>
            </a:pPr>
            <a:r>
              <a:rPr lang="en-US" sz="1500">
                <a:solidFill>
                  <a:srgbClr val="193EB0"/>
                </a:solidFill>
                <a:latin typeface="Arial"/>
                <a:ea typeface="Arial"/>
                <a:cs typeface="Arial"/>
                <a:sym typeface="Arial"/>
              </a:rPr>
              <a:t>Target top-performing geographies and tailor marketing campaigns to lower-selling categories.</a:t>
            </a:r>
          </a:p>
          <a:p>
            <a:pPr algn="l">
              <a:lnSpc>
                <a:spcPts val="1800"/>
              </a:lnSpc>
            </a:pPr>
            <a:r>
              <a:rPr lang="en-US" b="true" sz="1500">
                <a:solidFill>
                  <a:srgbClr val="193EB0"/>
                </a:solidFill>
                <a:latin typeface="Arial Bold"/>
                <a:ea typeface="Arial Bold"/>
                <a:cs typeface="Arial Bold"/>
                <a:sym typeface="Arial Bold"/>
              </a:rPr>
              <a:t>     Diversify payment methods</a:t>
            </a:r>
          </a:p>
          <a:p>
            <a:pPr algn="l" marL="323850" indent="-161925" lvl="1">
              <a:lnSpc>
                <a:spcPts val="1800"/>
              </a:lnSpc>
              <a:buFont typeface="Arial"/>
              <a:buChar char="•"/>
            </a:pPr>
            <a:r>
              <a:rPr lang="en-US" sz="1500">
                <a:solidFill>
                  <a:srgbClr val="193EB0"/>
                </a:solidFill>
                <a:latin typeface="Arial"/>
                <a:ea typeface="Arial"/>
                <a:cs typeface="Arial"/>
                <a:sym typeface="Arial"/>
              </a:rPr>
              <a:t>Encourage the use of electronic payment methods by offering discounts or additional benefits.</a:t>
            </a:r>
          </a:p>
          <a:p>
            <a:pPr algn="l">
              <a:lnSpc>
                <a:spcPts val="1800"/>
              </a:lnSpc>
            </a:pPr>
          </a:p>
          <a:p>
            <a:pPr algn="l" marL="323850" indent="-161925" lvl="1">
              <a:lnSpc>
                <a:spcPts val="1800"/>
              </a:lnSpc>
              <a:buFont typeface="Arial"/>
              <a:buChar char="•"/>
            </a:pP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93EB0"/>
        </a:solidFill>
      </p:bgPr>
    </p:bg>
    <p:spTree>
      <p:nvGrpSpPr>
        <p:cNvPr id="1" name=""/>
        <p:cNvGrpSpPr/>
        <p:nvPr/>
      </p:nvGrpSpPr>
      <p:grpSpPr>
        <a:xfrm>
          <a:off x="0" y="0"/>
          <a:ext cx="0" cy="0"/>
          <a:chOff x="0" y="0"/>
          <a:chExt cx="0" cy="0"/>
        </a:xfrm>
      </p:grpSpPr>
      <p:sp>
        <p:nvSpPr>
          <p:cNvPr name="Freeform 2" id="2"/>
          <p:cNvSpPr/>
          <p:nvPr/>
        </p:nvSpPr>
        <p:spPr>
          <a:xfrm flipH="false" flipV="false" rot="0">
            <a:off x="8066554" y="403958"/>
            <a:ext cx="1360963" cy="210192"/>
          </a:xfrm>
          <a:custGeom>
            <a:avLst/>
            <a:gdLst/>
            <a:ahLst/>
            <a:cxnLst/>
            <a:rect r="r" b="b" t="t" l="l"/>
            <a:pathLst>
              <a:path h="210192" w="1360963">
                <a:moveTo>
                  <a:pt x="0" y="0"/>
                </a:moveTo>
                <a:lnTo>
                  <a:pt x="1360963" y="0"/>
                </a:lnTo>
                <a:lnTo>
                  <a:pt x="1360963" y="210192"/>
                </a:lnTo>
                <a:lnTo>
                  <a:pt x="0" y="210192"/>
                </a:lnTo>
                <a:lnTo>
                  <a:pt x="0" y="0"/>
                </a:lnTo>
                <a:close/>
              </a:path>
            </a:pathLst>
          </a:custGeom>
          <a:blipFill>
            <a:blip r:embed="rId3">
              <a:extLst>
                <a:ext uri="{96DAC541-7B7A-43D3-8B79-37D633B846F1}">
                  <asvg:svgBlip xmlns:asvg="http://schemas.microsoft.com/office/drawing/2016/SVG/main" r:embed="rId4"/>
                </a:ext>
              </a:extLst>
            </a:blip>
            <a:stretch>
              <a:fillRect l="0" t="-2070" r="0" b="-2070"/>
            </a:stretch>
          </a:blipFill>
        </p:spPr>
      </p:sp>
      <p:grpSp>
        <p:nvGrpSpPr>
          <p:cNvPr name="Group 3" id="3"/>
          <p:cNvGrpSpPr/>
          <p:nvPr/>
        </p:nvGrpSpPr>
        <p:grpSpPr>
          <a:xfrm rot="0">
            <a:off x="3271258" y="2628879"/>
            <a:ext cx="3360308" cy="1102138"/>
            <a:chOff x="0" y="0"/>
            <a:chExt cx="4480411" cy="1469517"/>
          </a:xfrm>
        </p:grpSpPr>
        <p:sp>
          <p:nvSpPr>
            <p:cNvPr name="Freeform 4" id="4"/>
            <p:cNvSpPr/>
            <p:nvPr/>
          </p:nvSpPr>
          <p:spPr>
            <a:xfrm flipH="false" flipV="false" rot="0">
              <a:off x="0" y="0"/>
              <a:ext cx="4480433" cy="1469517"/>
            </a:xfrm>
            <a:custGeom>
              <a:avLst/>
              <a:gdLst/>
              <a:ahLst/>
              <a:cxnLst/>
              <a:rect r="r" b="b" t="t" l="l"/>
              <a:pathLst>
                <a:path h="1469517" w="4480433">
                  <a:moveTo>
                    <a:pt x="0" y="0"/>
                  </a:moveTo>
                  <a:lnTo>
                    <a:pt x="4480433" y="0"/>
                  </a:lnTo>
                  <a:lnTo>
                    <a:pt x="4480433" y="1469517"/>
                  </a:lnTo>
                  <a:lnTo>
                    <a:pt x="0" y="1469517"/>
                  </a:lnTo>
                  <a:lnTo>
                    <a:pt x="0" y="0"/>
                  </a:lnTo>
                  <a:close/>
                </a:path>
              </a:pathLst>
            </a:custGeom>
            <a:blipFill>
              <a:blip r:embed="rId5"/>
              <a:stretch>
                <a:fillRect l="0" t="-102" r="0" b="-102"/>
              </a:stretch>
            </a:blipFill>
          </p:spPr>
        </p:sp>
      </p:grpSp>
      <p:sp>
        <p:nvSpPr>
          <p:cNvPr name="TextBox 5" id="5"/>
          <p:cNvSpPr txBox="true"/>
          <p:nvPr/>
        </p:nvSpPr>
        <p:spPr>
          <a:xfrm rot="0">
            <a:off x="592977" y="5573891"/>
            <a:ext cx="9309848" cy="788119"/>
          </a:xfrm>
          <a:prstGeom prst="rect">
            <a:avLst/>
          </a:prstGeom>
        </p:spPr>
        <p:txBody>
          <a:bodyPr anchor="t" rtlCol="false" tIns="0" lIns="0" bIns="0" rIns="0">
            <a:spAutoFit/>
          </a:bodyPr>
          <a:lstStyle/>
          <a:p>
            <a:pPr algn="l">
              <a:lnSpc>
                <a:spcPts val="1200"/>
              </a:lnSpc>
            </a:pPr>
            <a:r>
              <a:rPr lang="en-US" sz="1000">
                <a:solidFill>
                  <a:srgbClr val="FFFFFF"/>
                </a:solidFill>
                <a:latin typeface="Arial"/>
                <a:ea typeface="Arial"/>
                <a:cs typeface="Arial"/>
                <a:sym typeface="Arial"/>
              </a:rPr>
              <a:t>ⓒ2020 SAMSUNG. All rights reserved.</a:t>
            </a:r>
          </a:p>
          <a:p>
            <a:pPr algn="l">
              <a:lnSpc>
                <a:spcPts val="1200"/>
              </a:lnSpc>
            </a:pPr>
            <a:r>
              <a:rPr lang="en-US" sz="1000">
                <a:solidFill>
                  <a:srgbClr val="FFFFFF"/>
                </a:solidFill>
                <a:latin typeface="Arial"/>
                <a:ea typeface="Arial"/>
                <a:cs typeface="Arial"/>
                <a:sym typeface="Arial"/>
              </a:rPr>
              <a:t>Samsung Electronics Corporate Citizenship Office holds the copyright of book.</a:t>
            </a:r>
          </a:p>
          <a:p>
            <a:pPr algn="l">
              <a:lnSpc>
                <a:spcPts val="1200"/>
              </a:lnSpc>
            </a:pPr>
            <a:r>
              <a:rPr lang="en-US" sz="1000">
                <a:solidFill>
                  <a:srgbClr val="FFFFFF"/>
                </a:solidFill>
                <a:latin typeface="Arial"/>
                <a:ea typeface="Arial"/>
                <a:cs typeface="Arial"/>
                <a:sym typeface="Arial"/>
              </a:rPr>
              <a:t>This book is a literary property protected by copyright law so reprint and reproduction without permission are prohibited. </a:t>
            </a:r>
          </a:p>
          <a:p>
            <a:pPr algn="l">
              <a:lnSpc>
                <a:spcPts val="1200"/>
              </a:lnSpc>
            </a:pPr>
            <a:r>
              <a:rPr lang="en-US" sz="1000">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A26C1C6C546141848B036F8B9C469F" ma:contentTypeVersion="14" ma:contentTypeDescription="Create a new document." ma:contentTypeScope="" ma:versionID="bb9fb2a815a637ad5d803b665ff14a44">
  <xsd:schema xmlns:xsd="http://www.w3.org/2001/XMLSchema" xmlns:xs="http://www.w3.org/2001/XMLSchema" xmlns:p="http://schemas.microsoft.com/office/2006/metadata/properties" xmlns:ns2="6487fa77-d6a7-40ec-a6cd-2e59f67eb1a0" xmlns:ns3="74bc8e22-51c7-4a00-b450-6b2f6bdc1a4a" targetNamespace="http://schemas.microsoft.com/office/2006/metadata/properties" ma:root="true" ma:fieldsID="0aca7234eb0eb225cfd3b5a5195965ea" ns2:_="" ns3:_="">
    <xsd:import namespace="6487fa77-d6a7-40ec-a6cd-2e59f67eb1a0"/>
    <xsd:import namespace="74bc8e22-51c7-4a00-b450-6b2f6bdc1a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
                <xsd:element ref="ns2:Notes" minOccurs="0"/>
                <xsd:element ref="ns2:order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87fa77-d6a7-40ec-a6cd-2e59f67eb1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39367a4-10b3-4c8d-97d8-f9cba8064ec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 ma:index="19" ma:displayName="Note" ma:description="Just note" ma:format="Dropdown" ma:internalName="Note">
      <xsd:simpleType>
        <xsd:restriction base="dms:Note"/>
      </xsd:simpleType>
    </xsd:element>
    <xsd:element name="Notes" ma:index="20" nillable="true" ma:displayName="Notes" ma:description="very ya3 task" ma:format="Dropdown" ma:internalName="Notes">
      <xsd:simpleType>
        <xsd:restriction base="dms:Text">
          <xsd:maxLength value="255"/>
        </xsd:restriction>
      </xsd:simpleType>
    </xsd:element>
    <xsd:element name="order0" ma:index="21" nillable="true" ma:displayName="order" ma:format="Dropdown" ma:indexed="true" ma:internalName="order0"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4bc8e22-51c7-4a00-b450-6b2f6bdc1a4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575c54f-2f42-4dfd-bad9-834a698e824e}" ma:internalName="TaxCatchAll" ma:showField="CatchAllData" ma:web="74bc8e22-51c7-4a00-b450-6b2f6bdc1a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487fa77-d6a7-40ec-a6cd-2e59f67eb1a0">
      <Terms xmlns="http://schemas.microsoft.com/office/infopath/2007/PartnerControls"/>
    </lcf76f155ced4ddcb4097134ff3c332f>
    <Note xmlns="6487fa77-d6a7-40ec-a6cd-2e59f67eb1a0"/>
    <TaxCatchAll xmlns="74bc8e22-51c7-4a00-b450-6b2f6bdc1a4a" xsi:nil="true"/>
    <Notes xmlns="6487fa77-d6a7-40ec-a6cd-2e59f67eb1a0" xsi:nil="true"/>
    <order0 xmlns="6487fa77-d6a7-40ec-a6cd-2e59f67eb1a0" xsi:nil="true"/>
  </documentManagement>
</p:properties>
</file>

<file path=customXml/itemProps1.xml><?xml version="1.0" encoding="utf-8"?>
<ds:datastoreItem xmlns:ds="http://schemas.openxmlformats.org/officeDocument/2006/customXml" ds:itemID="{16F0B8DD-DB7C-465E-AF61-0A0F32FD642E}"/>
</file>

<file path=customXml/itemProps2.xml><?xml version="1.0" encoding="utf-8"?>
<ds:datastoreItem xmlns:ds="http://schemas.openxmlformats.org/officeDocument/2006/customXml" ds:itemID="{E4A4903A-B83C-4CF9-BC8F-8E42E30A742E}"/>
</file>

<file path=customXml/itemProps3.xml><?xml version="1.0" encoding="utf-8"?>
<ds:datastoreItem xmlns:ds="http://schemas.openxmlformats.org/officeDocument/2006/customXml" ds:itemID="{98994625-FBA2-4320-A6A3-819F0929E69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14 - SIC AI702.pptx</dc:title>
  <cp:revision>1</cp:revision>
  <dcterms:created xsi:type="dcterms:W3CDTF">2006-08-16T00:00:00Z</dcterms:created>
  <dcterms:modified xsi:type="dcterms:W3CDTF">2011-08-01T06:04:30Z</dcterms:modified>
  <dc:identifier>DAGyBPDkRX0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0x01010071A26C1C6C546141848B036F8B9C469F</vt:lpwstr>
  </property>
</Properties>
</file>